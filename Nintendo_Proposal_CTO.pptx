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81" r:id="rId3"/>
    <p:sldId id="261" r:id="rId4"/>
    <p:sldId id="262" r:id="rId5"/>
    <p:sldId id="289" r:id="rId6"/>
    <p:sldId id="282" r:id="rId7"/>
    <p:sldId id="285" r:id="rId8"/>
    <p:sldId id="290" r:id="rId9"/>
    <p:sldId id="291" r:id="rId10"/>
    <p:sldId id="292" r:id="rId11"/>
    <p:sldId id="265" r:id="rId12"/>
    <p:sldId id="283" r:id="rId13"/>
    <p:sldId id="293" r:id="rId14"/>
    <p:sldId id="284" r:id="rId15"/>
    <p:sldId id="270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E60012"/>
    <a:srgbClr val="1A1A1A"/>
    <a:srgbClr val="FFFFFF"/>
    <a:srgbClr val="14141E"/>
    <a:srgbClr val="00CCFF"/>
    <a:srgbClr val="0A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94"/>
  </p:normalViewPr>
  <p:slideViewPr>
    <p:cSldViewPr snapToGrid="0">
      <p:cViewPr varScale="1">
        <p:scale>
          <a:sx n="102" d="100"/>
          <a:sy n="102" d="100"/>
        </p:scale>
        <p:origin x="10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195D-3470-73BE-9E40-8F735F304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1424A-9F28-54B7-115C-BD3645FF3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89D65-FAA2-795E-DD3C-8BA31499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3D30-F995-0BB5-7A08-4675B682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93DCB-0A77-9C66-BFD2-6E3DD6EF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5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C052-7CB0-2671-E3DC-DBFCCA20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797A7-B932-D7A7-4DD0-F51C51013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3670-3545-F086-02D8-377BFE93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9C95-321F-D20A-3805-A6381240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3A67-1FC6-629A-F07E-0F03C05E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21FC-13A4-EA31-B3D7-ECD7A021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46571-8D8B-D28E-1117-CDB5BCEA0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F429F-981C-CEE8-17F5-807EB719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D6472-45C6-5C86-6872-9021FFCC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A0DBC-60EA-EE09-EABD-9F699C29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9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FA16-9545-4F0B-422B-6F323A9D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80760-FB3B-2CB1-FC18-119BF042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A3EE7-9CC8-12B7-0D37-F45A8B359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B2CEC-A09D-5D82-6F40-1F74FEDA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3C53C-6444-7D2B-851D-D9579BF2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A95C-A123-B8E6-27FB-068DBD08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3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A473-B982-C086-8EE8-19916742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097F1-3989-D067-3E4A-571E39867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B99AB-E411-0DB4-AA5A-F695F7E3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66327-B562-642D-B02C-E4DDB7E60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C9090-467E-8576-406B-04146D5AF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DC790-EDAE-51EC-D98C-C24AF485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E316B-C165-423C-684E-804BBB85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231C-38B6-CCC5-A88B-7E9CF22E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3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E3C2-EACB-2A1B-6B35-C578132E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5978C-9800-ACE2-4BF7-76096A31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005D7-8AE1-F1BB-4446-865CA7EC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54BCF-8548-EFD8-9207-06DA6D0A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3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816B7-7D2A-839D-585A-A323D642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F4130-9945-F9B3-948A-F8D8A546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B26D-1068-FC5A-5253-25D281F0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F734-6A1F-4825-BDCF-E6C5568A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5CCD4-BAFB-1576-9AA7-F898C7184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74FC8-0903-3AE4-5665-EC6D198DE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A2833-656F-C7C8-4921-024B56F0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487D6-AE9D-7EE9-3C6B-150200DF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BBF38-236A-6D56-2FAF-972BC2E5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1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B638-601A-BA52-6D9E-787D1716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19CEC-DD31-41A3-8E0E-37FFF5D15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B77B3-61DA-C71F-EB35-20A0A37C7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FF85B-221E-DAF1-9E06-8FB445C0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C4DEF-346D-1E35-C027-F7961502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5EAD2-5CB4-B41C-67F7-0BBE26EC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77B3-E0C9-D72F-3D18-FEC75250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AEDE2-F58D-BFE5-A1B9-7373F074C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BA6C0-0F0D-B89C-6E91-1DE7A4C0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5FD67-3831-46DE-B86A-82B0877F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7D462-B7C2-AF33-71E9-183A9FFC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BB52C-089D-4129-BAD9-DCEF04440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88BD6-B18C-40D8-8AD0-8455F2FA9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1A3E-BE89-D9F1-00D4-EA0B2C87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DFE15-425B-C62F-0283-D36FEAE5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EC768-DDEA-1A04-9092-2413B379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4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48D33-43E3-6536-0820-D7B7FA7A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6A9-2B78-E5ED-C1A7-9C9A96F3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8394-6114-614A-DAB7-8575C3AD2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436B3-A6B6-2143-94D0-02E94C56208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58174-EBD1-57C9-A061-93FADD468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5DCCF-DBDC-BAFF-901B-6E74353B0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8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owolabidamilola2014/Nintendo_Sequel_Decision_Analysi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1824" y="1954691"/>
            <a:ext cx="61447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E60012"/>
                </a:solidFill>
              </a:rPr>
              <a:t>NINTENDO SEQUEL DECISION ANALYSIS</a:t>
            </a:r>
            <a:br>
              <a:rPr dirty="0">
                <a:solidFill>
                  <a:srgbClr val="E60012"/>
                </a:solidFill>
              </a:rPr>
            </a:br>
            <a:r>
              <a:rPr lang="en-US" sz="3600" dirty="0">
                <a:solidFill>
                  <a:srgbClr val="333333"/>
                </a:solidFill>
              </a:rPr>
              <a:t>Technical Overview</a:t>
            </a:r>
            <a:endParaRPr sz="3600" dirty="0">
              <a:solidFill>
                <a:srgbClr val="3333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1824" y="5541264"/>
            <a:ext cx="7626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rgbClr val="333333"/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rgbClr val="333333"/>
                </a:solidFill>
              </a:rPr>
              <a:t>Oluwadamilola Owolabi, Kosi Okeke</a:t>
            </a:r>
          </a:p>
        </p:txBody>
      </p:sp>
      <p:pic>
        <p:nvPicPr>
          <p:cNvPr id="7" name="Picture 6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E33CF62A-975E-1B21-D0C1-9FE28910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35E1-B6F0-A12A-F65E-12BB525F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75007-B7CA-6138-C13F-33A629764D07}"/>
              </a:ext>
            </a:extLst>
          </p:cNvPr>
          <p:cNvSpPr txBox="1"/>
          <p:nvPr/>
        </p:nvSpPr>
        <p:spPr>
          <a:xfrm>
            <a:off x="1350886" y="547518"/>
            <a:ext cx="1030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PROBLEM &amp; TECHNICAL GOAL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70793-AB07-6C10-56B3-3CD9243D34AF}"/>
              </a:ext>
            </a:extLst>
          </p:cNvPr>
          <p:cNvSpPr txBox="1"/>
          <p:nvPr/>
        </p:nvSpPr>
        <p:spPr>
          <a:xfrm>
            <a:off x="1669892" y="3098017"/>
            <a:ext cx="10096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</a:rPr>
              <a:t>Build prediction accuracy for Videogame titles that can yield profitable sequels</a:t>
            </a:r>
          </a:p>
        </p:txBody>
      </p:sp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3BBCDF5E-6899-4753-0FD8-663EEEE7A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495E4-F335-E18E-DD12-9516FA2602D2}"/>
              </a:ext>
            </a:extLst>
          </p:cNvPr>
          <p:cNvSpPr txBox="1"/>
          <p:nvPr/>
        </p:nvSpPr>
        <p:spPr>
          <a:xfrm>
            <a:off x="1669891" y="3667404"/>
            <a:ext cx="9080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</a:rPr>
              <a:t>Reduce Wasted production cycles on high-risk sequels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08406-C3F3-F349-2267-DCAE32F6052B}"/>
              </a:ext>
            </a:extLst>
          </p:cNvPr>
          <p:cNvSpPr txBox="1"/>
          <p:nvPr/>
        </p:nvSpPr>
        <p:spPr>
          <a:xfrm>
            <a:off x="1669890" y="4185308"/>
            <a:ext cx="9080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</a:rPr>
              <a:t>Integrate predictive model into internal decision-making tools.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463001-2D1D-4A85-44BF-08191D6F162E}"/>
              </a:ext>
            </a:extLst>
          </p:cNvPr>
          <p:cNvSpPr txBox="1"/>
          <p:nvPr/>
        </p:nvSpPr>
        <p:spPr>
          <a:xfrm>
            <a:off x="1325120" y="1363126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Problem</a:t>
            </a:r>
            <a:r>
              <a:rPr lang="en-US" sz="2400" dirty="0">
                <a:solidFill>
                  <a:srgbClr val="1A1A1A"/>
                </a:solidFill>
              </a:rPr>
              <a:t>: 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35CF72-0548-5527-3475-D4F72CD3442B}"/>
              </a:ext>
            </a:extLst>
          </p:cNvPr>
          <p:cNvSpPr txBox="1"/>
          <p:nvPr/>
        </p:nvSpPr>
        <p:spPr>
          <a:xfrm>
            <a:off x="1325120" y="2600917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Goal</a:t>
            </a:r>
            <a:r>
              <a:rPr lang="en-US" sz="2400" dirty="0">
                <a:solidFill>
                  <a:srgbClr val="1A1A1A"/>
                </a:solidFill>
              </a:rPr>
              <a:t>: 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4000E5-8D3D-56DD-7365-CB720E9ED617}"/>
              </a:ext>
            </a:extLst>
          </p:cNvPr>
          <p:cNvSpPr txBox="1"/>
          <p:nvPr/>
        </p:nvSpPr>
        <p:spPr>
          <a:xfrm>
            <a:off x="1669890" y="1857596"/>
            <a:ext cx="100966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</a:rPr>
              <a:t>Nintendo lacks a data-driven system for deciding game sequels, leading to missed revenues and wasted resources.</a:t>
            </a:r>
          </a:p>
        </p:txBody>
      </p:sp>
      <p:pic>
        <p:nvPicPr>
          <p:cNvPr id="22" name="Picture 21" descr="A diagram of a process&#10;&#10;AI-generated content may be incorrect.">
            <a:extLst>
              <a:ext uri="{FF2B5EF4-FFF2-40B4-BE49-F238E27FC236}">
                <a16:creationId xmlns:a16="http://schemas.microsoft.com/office/drawing/2014/main" id="{9A7C264E-D0DE-FD93-425C-E43FB9AC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890" y="5074810"/>
            <a:ext cx="6361905" cy="1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8" grpId="0"/>
      <p:bldP spid="16" grpId="0"/>
      <p:bldP spid="18" grpId="0"/>
      <p:bldP spid="20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1289" y="492711"/>
            <a:ext cx="86604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HIGH LEVEL TECHNICAL ARCHITECTURE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A2094-2BD0-860C-C670-613B7EFEF718}"/>
              </a:ext>
            </a:extLst>
          </p:cNvPr>
          <p:cNvSpPr txBox="1"/>
          <p:nvPr/>
        </p:nvSpPr>
        <p:spPr>
          <a:xfrm>
            <a:off x="1031289" y="142885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Data Pipeline: </a:t>
            </a:r>
          </a:p>
        </p:txBody>
      </p:sp>
      <p:pic>
        <p:nvPicPr>
          <p:cNvPr id="16" name="Picture 15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25C8A892-DE40-9B95-44AE-26DD182A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pic>
        <p:nvPicPr>
          <p:cNvPr id="23" name="Picture 22" descr="A diagram of a data flow&#10;&#10;AI-generated content may be incorrect.">
            <a:extLst>
              <a:ext uri="{FF2B5EF4-FFF2-40B4-BE49-F238E27FC236}">
                <a16:creationId xmlns:a16="http://schemas.microsoft.com/office/drawing/2014/main" id="{65E569A8-9460-951B-81F5-30C2A0EE9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313" y="2180339"/>
            <a:ext cx="4752381" cy="3771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9046" y="590367"/>
            <a:ext cx="8700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INTEGRATION WITH EXISTING SYSTEMS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1886" y="3429000"/>
            <a:ext cx="8964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Easy scalability of model to handle millions of company data.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1CEC119-F832-B8B7-089F-2A1086AC9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6AFCE-FD2F-BBA9-EF4B-B9043CAB691D}"/>
              </a:ext>
            </a:extLst>
          </p:cNvPr>
          <p:cNvSpPr txBox="1"/>
          <p:nvPr/>
        </p:nvSpPr>
        <p:spPr>
          <a:xfrm>
            <a:off x="911886" y="1414195"/>
            <a:ext cx="100238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Model was trained </a:t>
            </a:r>
            <a:r>
              <a:rPr lang="en-US" sz="2400" dirty="0" err="1">
                <a:solidFill>
                  <a:srgbClr val="1A1A1A"/>
                </a:solidFill>
              </a:rPr>
              <a:t>webscraped</a:t>
            </a:r>
            <a:r>
              <a:rPr lang="en-US" sz="2400" dirty="0">
                <a:solidFill>
                  <a:srgbClr val="1A1A1A"/>
                </a:solidFill>
              </a:rPr>
              <a:t> data from an official site (</a:t>
            </a:r>
            <a:r>
              <a:rPr lang="en-US" sz="2400" b="1" dirty="0" err="1">
                <a:solidFill>
                  <a:srgbClr val="1A1A1A"/>
                </a:solidFill>
              </a:rPr>
              <a:t>Dekudeals</a:t>
            </a:r>
            <a:r>
              <a:rPr lang="en-US" sz="2400" dirty="0">
                <a:solidFill>
                  <a:srgbClr val="1A1A1A"/>
                </a:solidFill>
              </a:rPr>
              <a:t>), hence can easily be integrated  with system data.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65B7C1-736E-4BE2-7994-C44932BE3BA4}"/>
              </a:ext>
            </a:extLst>
          </p:cNvPr>
          <p:cNvSpPr txBox="1"/>
          <p:nvPr/>
        </p:nvSpPr>
        <p:spPr>
          <a:xfrm>
            <a:off x="911886" y="2422690"/>
            <a:ext cx="100238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Model outputs are automatically updated to the </a:t>
            </a:r>
            <a:r>
              <a:rPr lang="en-US" sz="2400" b="1" dirty="0" err="1">
                <a:solidFill>
                  <a:srgbClr val="1A1A1A"/>
                </a:solidFill>
              </a:rPr>
              <a:t>streamlit</a:t>
            </a:r>
            <a:r>
              <a:rPr lang="en-US" sz="2400" dirty="0">
                <a:solidFill>
                  <a:srgbClr val="1A1A1A"/>
                </a:solidFill>
              </a:rPr>
              <a:t> dashboard in and can be accessed globally through </a:t>
            </a:r>
            <a:r>
              <a:rPr lang="en-US" sz="2400" b="1" dirty="0" err="1">
                <a:solidFill>
                  <a:srgbClr val="1A1A1A"/>
                </a:solidFill>
              </a:rPr>
              <a:t>HuggingFace</a:t>
            </a:r>
            <a:r>
              <a:rPr lang="en-US" sz="2400" b="1" dirty="0">
                <a:solidFill>
                  <a:srgbClr val="1A1A1A"/>
                </a:solidFill>
              </a:rPr>
              <a:t> Space</a:t>
            </a:r>
            <a:r>
              <a:rPr lang="en-US" sz="2400" dirty="0">
                <a:solidFill>
                  <a:srgbClr val="1A1A1A"/>
                </a:solidFill>
              </a:rPr>
              <a:t>. </a:t>
            </a:r>
            <a:endParaRPr lang="en-US" sz="2400" i="1" dirty="0">
              <a:solidFill>
                <a:srgbClr val="1A1A1A"/>
              </a:solidFill>
            </a:endParaRPr>
          </a:p>
        </p:txBody>
      </p:sp>
      <p:pic>
        <p:nvPicPr>
          <p:cNvPr id="16" name="Picture 15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F7B9AC67-8D40-E397-44CC-6005F0E7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03A0-E55E-0FA8-6763-96D088F6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F50C1-80F6-33CC-57A3-252C37BA689E}"/>
              </a:ext>
            </a:extLst>
          </p:cNvPr>
          <p:cNvSpPr txBox="1"/>
          <p:nvPr/>
        </p:nvSpPr>
        <p:spPr>
          <a:xfrm>
            <a:off x="1155577" y="545978"/>
            <a:ext cx="73647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DATA QUALITY AND GOVERNANCE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BF6BB-2A53-1B1C-7B6E-CE8722703A6B}"/>
              </a:ext>
            </a:extLst>
          </p:cNvPr>
          <p:cNvSpPr txBox="1"/>
          <p:nvPr/>
        </p:nvSpPr>
        <p:spPr>
          <a:xfrm>
            <a:off x="1082424" y="1365796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Availability: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13261-F8BE-BE60-0BE4-82D2F3501A03}"/>
              </a:ext>
            </a:extLst>
          </p:cNvPr>
          <p:cNvSpPr txBox="1"/>
          <p:nvPr/>
        </p:nvSpPr>
        <p:spPr>
          <a:xfrm>
            <a:off x="1452882" y="1827461"/>
            <a:ext cx="5590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No missing values across all features</a:t>
            </a:r>
          </a:p>
        </p:txBody>
      </p:sp>
      <p:pic>
        <p:nvPicPr>
          <p:cNvPr id="10" name="Picture 9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978D7269-8EEE-2FAE-8713-33162029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78E7D8-1138-2F1E-9F01-B910BD026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703" y="1537996"/>
            <a:ext cx="4375282" cy="2015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2F264E-637C-DA6D-2C95-1CC96918233E}"/>
              </a:ext>
            </a:extLst>
          </p:cNvPr>
          <p:cNvSpPr txBox="1"/>
          <p:nvPr/>
        </p:nvSpPr>
        <p:spPr>
          <a:xfrm>
            <a:off x="1082423" y="2306604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Diversity: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9469E-A793-64CB-6F79-81121491BC7A}"/>
              </a:ext>
            </a:extLst>
          </p:cNvPr>
          <p:cNvSpPr txBox="1"/>
          <p:nvPr/>
        </p:nvSpPr>
        <p:spPr>
          <a:xfrm>
            <a:off x="1452882" y="2843095"/>
            <a:ext cx="9780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Diverse sets of feature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5EDB1-5A47-04AA-A29A-1853324CBFDA}"/>
              </a:ext>
            </a:extLst>
          </p:cNvPr>
          <p:cNvSpPr txBox="1"/>
          <p:nvPr/>
        </p:nvSpPr>
        <p:spPr>
          <a:xfrm>
            <a:off x="1082422" y="3383584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Governance: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A6DCD5-42D2-7264-70F1-0BFE9E8E3B05}"/>
              </a:ext>
            </a:extLst>
          </p:cNvPr>
          <p:cNvSpPr txBox="1"/>
          <p:nvPr/>
        </p:nvSpPr>
        <p:spPr>
          <a:xfrm>
            <a:off x="1605282" y="3920075"/>
            <a:ext cx="54380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Well secured storage, scalable pipelines.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8B42D-4969-2135-C9F0-9766F93EED41}"/>
              </a:ext>
            </a:extLst>
          </p:cNvPr>
          <p:cNvSpPr txBox="1"/>
          <p:nvPr/>
        </p:nvSpPr>
        <p:spPr>
          <a:xfrm>
            <a:off x="1082422" y="4724712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Ethics: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A1623-C315-9704-4D55-0B83907A9834}"/>
              </a:ext>
            </a:extLst>
          </p:cNvPr>
          <p:cNvSpPr txBox="1"/>
          <p:nvPr/>
        </p:nvSpPr>
        <p:spPr>
          <a:xfrm>
            <a:off x="1605282" y="5251304"/>
            <a:ext cx="54380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Elimination of Bias in sequel prediction via </a:t>
            </a:r>
            <a:r>
              <a:rPr lang="en-US" sz="2400" dirty="0"/>
              <a:t>Random Forest’s internal weighting</a:t>
            </a:r>
            <a:endParaRPr lang="en-US" sz="2400" dirty="0">
              <a:solidFill>
                <a:srgbClr val="1A1A1A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6CD72-51CD-44B0-7BFC-69979DA6F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703" y="3803740"/>
            <a:ext cx="4375282" cy="20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56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  <p:bldP spid="9" grpId="0"/>
      <p:bldP spid="11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C6BB-9686-BC6B-8E19-9C085C444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86DE5-04E5-EBAD-9749-9C1275109896}"/>
              </a:ext>
            </a:extLst>
          </p:cNvPr>
          <p:cNvSpPr txBox="1"/>
          <p:nvPr/>
        </p:nvSpPr>
        <p:spPr>
          <a:xfrm>
            <a:off x="932155" y="446889"/>
            <a:ext cx="82856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SCALABILITY, SECURITY, COMPLIANCE</a:t>
            </a:r>
            <a:endParaRPr sz="3600" b="1" dirty="0">
              <a:solidFill>
                <a:srgbClr val="C80000"/>
              </a:solidFill>
            </a:endParaRPr>
          </a:p>
        </p:txBody>
      </p:sp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5FD3B38E-010C-2492-A2DC-DC83FBC0E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048717-7DD6-6446-ECDA-4F0D8D1DC41D}"/>
              </a:ext>
            </a:extLst>
          </p:cNvPr>
          <p:cNvSpPr txBox="1"/>
          <p:nvPr/>
        </p:nvSpPr>
        <p:spPr>
          <a:xfrm>
            <a:off x="932155" y="1484593"/>
            <a:ext cx="7099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A1A1A"/>
                </a:solidFill>
              </a:rPr>
              <a:t>Steamlit</a:t>
            </a:r>
            <a:r>
              <a:rPr lang="en-US" sz="2400" dirty="0">
                <a:solidFill>
                  <a:srgbClr val="1A1A1A"/>
                </a:solidFill>
              </a:rPr>
              <a:t> app containerized for easy portability.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A40B5-F40D-9A6F-805B-A48A8AA5B79A}"/>
              </a:ext>
            </a:extLst>
          </p:cNvPr>
          <p:cNvSpPr txBox="1"/>
          <p:nvPr/>
        </p:nvSpPr>
        <p:spPr>
          <a:xfrm>
            <a:off x="932155" y="2106798"/>
            <a:ext cx="9780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Hugging face built for scaling with massive datasets.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2B996-2004-8BC2-D26C-AB35D0F94586}"/>
              </a:ext>
            </a:extLst>
          </p:cNvPr>
          <p:cNvSpPr txBox="1"/>
          <p:nvPr/>
        </p:nvSpPr>
        <p:spPr>
          <a:xfrm>
            <a:off x="932155" y="2751045"/>
            <a:ext cx="8594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Strict compliance to data privacy by avoiding personal data.</a:t>
            </a:r>
          </a:p>
        </p:txBody>
      </p:sp>
    </p:spTree>
    <p:extLst>
      <p:ext uri="{BB962C8B-B14F-4D97-AF65-F5344CB8AC3E}">
        <p14:creationId xmlns:p14="http://schemas.microsoft.com/office/powerpoint/2010/main" val="285575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8117-DE23-E12A-ADAF-651780D2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DDBC71AE-F23F-00AB-959F-5BABD4F9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B7ED3-5D00-93F9-C3DB-D360E78B2607}"/>
              </a:ext>
            </a:extLst>
          </p:cNvPr>
          <p:cNvSpPr txBox="1"/>
          <p:nvPr/>
        </p:nvSpPr>
        <p:spPr>
          <a:xfrm>
            <a:off x="797143" y="121632"/>
            <a:ext cx="38356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EDA HIGHLIGHTS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4781C-2E96-CD8A-D0EC-2AD7C0A2EF86}"/>
              </a:ext>
            </a:extLst>
          </p:cNvPr>
          <p:cNvSpPr txBox="1"/>
          <p:nvPr/>
        </p:nvSpPr>
        <p:spPr>
          <a:xfrm>
            <a:off x="797143" y="1069234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Average MSRP:</a:t>
            </a:r>
            <a:endParaRPr lang="en-US" sz="2400" dirty="0">
              <a:solidFill>
                <a:srgbClr val="1A1A1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43533-0E1D-41DA-36AF-7DAC28A8B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38" y="1832170"/>
            <a:ext cx="6855199" cy="3396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5D4005-789A-5590-BFD1-7908C72DB66F}"/>
              </a:ext>
            </a:extLst>
          </p:cNvPr>
          <p:cNvSpPr txBox="1"/>
          <p:nvPr/>
        </p:nvSpPr>
        <p:spPr>
          <a:xfrm>
            <a:off x="985868" y="5788766"/>
            <a:ext cx="7099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most games are priced between $5–$18.</a:t>
            </a:r>
            <a:endParaRPr lang="en-US" sz="2400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74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0259-2E32-2777-33DE-7FA5A12F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54B54941-3D4E-06A7-05A7-4668A318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167B2-978A-DB1F-058C-F09E45506892}"/>
              </a:ext>
            </a:extLst>
          </p:cNvPr>
          <p:cNvSpPr txBox="1"/>
          <p:nvPr/>
        </p:nvSpPr>
        <p:spPr>
          <a:xfrm>
            <a:off x="797143" y="121632"/>
            <a:ext cx="38356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EDA HIGHLIGHTS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5C2AF5-A2C5-31EF-14A2-B5358EFAEBF7}"/>
              </a:ext>
            </a:extLst>
          </p:cNvPr>
          <p:cNvSpPr txBox="1"/>
          <p:nvPr/>
        </p:nvSpPr>
        <p:spPr>
          <a:xfrm>
            <a:off x="797143" y="1069234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Top Platforms: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81DD9-F6F6-408C-7801-028FCDFD0F92}"/>
              </a:ext>
            </a:extLst>
          </p:cNvPr>
          <p:cNvSpPr txBox="1"/>
          <p:nvPr/>
        </p:nvSpPr>
        <p:spPr>
          <a:xfrm>
            <a:off x="985868" y="5788766"/>
            <a:ext cx="76515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Nintendo Switch is the most popular platform for most titles, compared to the newer generation consoles</a:t>
            </a:r>
            <a:endParaRPr lang="en-US" sz="2400" dirty="0">
              <a:solidFill>
                <a:srgbClr val="1A1A1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66674-EAC1-00E5-8103-96DC3E46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75" y="2022524"/>
            <a:ext cx="5860063" cy="328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0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257A-CD21-F03C-C7A4-45FBEF14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C546F474-0BF7-7E28-F05C-90D2E6121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D6EB70-6CE4-DFE2-AD59-74DD5BF25FB5}"/>
              </a:ext>
            </a:extLst>
          </p:cNvPr>
          <p:cNvSpPr txBox="1"/>
          <p:nvPr/>
        </p:nvSpPr>
        <p:spPr>
          <a:xfrm>
            <a:off x="797143" y="121632"/>
            <a:ext cx="38356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EDA HIGHLIGHTS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40F01E-C789-FAC5-9676-3A0AF61BCB7E}"/>
              </a:ext>
            </a:extLst>
          </p:cNvPr>
          <p:cNvSpPr txBox="1"/>
          <p:nvPr/>
        </p:nvSpPr>
        <p:spPr>
          <a:xfrm>
            <a:off x="797143" y="1069234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Multiplayer Split: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1D957-1283-AAE8-E207-B2C5118E6C00}"/>
              </a:ext>
            </a:extLst>
          </p:cNvPr>
          <p:cNvSpPr txBox="1"/>
          <p:nvPr/>
        </p:nvSpPr>
        <p:spPr>
          <a:xfrm>
            <a:off x="985868" y="5788766"/>
            <a:ext cx="7651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About 31.6% of all Nintendo titles are Multiplayer</a:t>
            </a:r>
            <a:endParaRPr lang="en-US" sz="2400" dirty="0">
              <a:solidFill>
                <a:srgbClr val="1A1A1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78A9A-4224-36B2-6A76-81F6DDFB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8" y="1947592"/>
            <a:ext cx="4301705" cy="345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54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E791-D0C8-8CA0-9E9E-E687ED98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A8F1A6DE-F41B-A5EB-6F7D-95C9AC97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ECD3C7-86C0-5E59-7FC6-FE0BD55AA72F}"/>
              </a:ext>
            </a:extLst>
          </p:cNvPr>
          <p:cNvSpPr txBox="1"/>
          <p:nvPr/>
        </p:nvSpPr>
        <p:spPr>
          <a:xfrm>
            <a:off x="797143" y="121632"/>
            <a:ext cx="38356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EDA HIGHLIGHTS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8FD1A-7ACB-B4BA-F4B1-CB45433E2E7A}"/>
              </a:ext>
            </a:extLst>
          </p:cNvPr>
          <p:cNvSpPr txBox="1"/>
          <p:nvPr/>
        </p:nvSpPr>
        <p:spPr>
          <a:xfrm>
            <a:off x="797143" y="1069234"/>
            <a:ext cx="97806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1A1A"/>
                </a:solidFill>
              </a:rPr>
              <a:t>Price Drivers:</a:t>
            </a:r>
            <a:endParaRPr lang="en-US" sz="2400" dirty="0">
              <a:solidFill>
                <a:srgbClr val="1A1A1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E1C09-BE6A-DA75-516B-B5DA0C92A2A7}"/>
              </a:ext>
            </a:extLst>
          </p:cNvPr>
          <p:cNvSpPr txBox="1"/>
          <p:nvPr/>
        </p:nvSpPr>
        <p:spPr>
          <a:xfrm>
            <a:off x="985868" y="5788767"/>
            <a:ext cx="8998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There is Higher MSRP prices in RPG and Strategy genres, but lower in Casual genres</a:t>
            </a:r>
            <a:endParaRPr lang="en-US" sz="2400" dirty="0">
              <a:solidFill>
                <a:srgbClr val="1A1A1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5884F-5094-0B9B-F54B-FE130B553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8" y="1803005"/>
            <a:ext cx="6181240" cy="37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3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DDC9-8C7D-B5B3-B4D7-3FE97830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AF1D8-41FE-1668-BF72-942040A0785E}"/>
              </a:ext>
            </a:extLst>
          </p:cNvPr>
          <p:cNvSpPr txBox="1"/>
          <p:nvPr/>
        </p:nvSpPr>
        <p:spPr>
          <a:xfrm>
            <a:off x="932155" y="298253"/>
            <a:ext cx="59307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MODELING PERFORMANCE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914D5-2F6C-6D28-B10F-FB3F6AF7D38A}"/>
              </a:ext>
            </a:extLst>
          </p:cNvPr>
          <p:cNvSpPr txBox="1"/>
          <p:nvPr/>
        </p:nvSpPr>
        <p:spPr>
          <a:xfrm>
            <a:off x="593488" y="5335509"/>
            <a:ext cx="85048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Top Features: </a:t>
            </a:r>
            <a:r>
              <a:rPr lang="en-US" sz="2000" dirty="0">
                <a:solidFill>
                  <a:srgbClr val="1A1A1A"/>
                </a:solidFill>
              </a:rPr>
              <a:t>MSRP, </a:t>
            </a:r>
            <a:r>
              <a:rPr lang="en-US" sz="2000" dirty="0" err="1">
                <a:solidFill>
                  <a:srgbClr val="1A1A1A"/>
                </a:solidFill>
              </a:rPr>
              <a:t>Release_year</a:t>
            </a:r>
            <a:r>
              <a:rPr lang="en-US" sz="2000" dirty="0">
                <a:solidFill>
                  <a:srgbClr val="1A1A1A"/>
                </a:solidFill>
              </a:rPr>
              <a:t>, game _age,  </a:t>
            </a:r>
            <a:r>
              <a:rPr lang="en-US" sz="2000" dirty="0" err="1">
                <a:solidFill>
                  <a:srgbClr val="1A1A1A"/>
                </a:solidFill>
              </a:rPr>
              <a:t>platform_count</a:t>
            </a:r>
            <a:r>
              <a:rPr lang="en-US" sz="2000" dirty="0">
                <a:solidFill>
                  <a:srgbClr val="1A1A1A"/>
                </a:solidFill>
              </a:rPr>
              <a:t>, key genres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9FA821AC-D439-BF03-6FF3-63DE6ABD7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2D8F12-B7D2-C117-3808-D95DD09C2FBD}"/>
              </a:ext>
            </a:extLst>
          </p:cNvPr>
          <p:cNvSpPr txBox="1"/>
          <p:nvPr/>
        </p:nvSpPr>
        <p:spPr>
          <a:xfrm>
            <a:off x="932155" y="1130468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Target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8D462-7F1A-27B8-7AAD-D41A25C4FF04}"/>
              </a:ext>
            </a:extLst>
          </p:cNvPr>
          <p:cNvSpPr txBox="1"/>
          <p:nvPr/>
        </p:nvSpPr>
        <p:spPr>
          <a:xfrm>
            <a:off x="981250" y="1624739"/>
            <a:ext cx="9320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rgbClr val="1A1A1A"/>
                </a:solidFill>
              </a:rPr>
              <a:t>is_sequel</a:t>
            </a:r>
            <a:endParaRPr lang="en-US" sz="2000" i="1" dirty="0">
              <a:solidFill>
                <a:srgbClr val="1A1A1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240CC-FC3C-61A6-3300-88C6F8FA15FD}"/>
              </a:ext>
            </a:extLst>
          </p:cNvPr>
          <p:cNvSpPr txBox="1"/>
          <p:nvPr/>
        </p:nvSpPr>
        <p:spPr>
          <a:xfrm>
            <a:off x="981250" y="2062865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rgbClr val="1A1A1A"/>
                </a:solidFill>
              </a:rPr>
              <a:t>Model: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FD92EC-6496-9F5F-86D1-94406D118EEA}"/>
              </a:ext>
            </a:extLst>
          </p:cNvPr>
          <p:cNvSpPr txBox="1"/>
          <p:nvPr/>
        </p:nvSpPr>
        <p:spPr>
          <a:xfrm>
            <a:off x="981250" y="2624101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rgbClr val="1A1A1A"/>
                </a:solidFill>
              </a:rPr>
              <a:t>RandomForestClassifier</a:t>
            </a:r>
            <a:r>
              <a:rPr lang="en-US" sz="2000" dirty="0">
                <a:solidFill>
                  <a:srgbClr val="1A1A1A"/>
                </a:solidFill>
              </a:rPr>
              <a:t> (Internal Weighting).</a:t>
            </a:r>
            <a:endParaRPr lang="en-US" sz="2000" i="1" dirty="0">
              <a:solidFill>
                <a:srgbClr val="1A1A1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293F0-AC4B-C6A2-B662-08C750153D86}"/>
              </a:ext>
            </a:extLst>
          </p:cNvPr>
          <p:cNvSpPr txBox="1"/>
          <p:nvPr/>
        </p:nvSpPr>
        <p:spPr>
          <a:xfrm>
            <a:off x="526241" y="3022868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 err="1">
                <a:solidFill>
                  <a:srgbClr val="1A1A1A"/>
                </a:solidFill>
              </a:rPr>
              <a:t>Validation_AUC</a:t>
            </a:r>
            <a:endParaRPr lang="en-US" sz="2400" b="1" dirty="0">
              <a:solidFill>
                <a:srgbClr val="1A1A1A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59FC4F-03E2-2228-C6C2-B446778E398A}"/>
              </a:ext>
            </a:extLst>
          </p:cNvPr>
          <p:cNvSpPr txBox="1"/>
          <p:nvPr/>
        </p:nvSpPr>
        <p:spPr>
          <a:xfrm>
            <a:off x="979060" y="3474195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About 85% in accuracy </a:t>
            </a:r>
            <a:endParaRPr lang="en-US" sz="2000" i="1" dirty="0">
              <a:solidFill>
                <a:srgbClr val="1A1A1A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8A184-EF3D-8329-A81F-7BBEAB0811F5}"/>
              </a:ext>
            </a:extLst>
          </p:cNvPr>
          <p:cNvSpPr txBox="1"/>
          <p:nvPr/>
        </p:nvSpPr>
        <p:spPr>
          <a:xfrm>
            <a:off x="526241" y="3886163"/>
            <a:ext cx="9775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Test Accuracy: 85%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75C8DB-02C2-AED8-B8EB-FDAD8C0400EF}"/>
              </a:ext>
            </a:extLst>
          </p:cNvPr>
          <p:cNvSpPr txBox="1"/>
          <p:nvPr/>
        </p:nvSpPr>
        <p:spPr>
          <a:xfrm>
            <a:off x="1503308" y="4359686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Class 0 (no sequel): Precision 89%, Recall: 93%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2C3BCD-026C-583A-78EC-0B4848D22818}"/>
              </a:ext>
            </a:extLst>
          </p:cNvPr>
          <p:cNvSpPr txBox="1"/>
          <p:nvPr/>
        </p:nvSpPr>
        <p:spPr>
          <a:xfrm>
            <a:off x="1046569" y="4881510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Class 1 (Sequel): Precision 55%, Recall 43%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CD8F82-92B5-7019-B953-11500F2E45B6}"/>
              </a:ext>
            </a:extLst>
          </p:cNvPr>
          <p:cNvSpPr txBox="1"/>
          <p:nvPr/>
        </p:nvSpPr>
        <p:spPr>
          <a:xfrm>
            <a:off x="7716034" y="1130468"/>
            <a:ext cx="44068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“Our model achieves 85% predictive accuracy, meaning that </a:t>
            </a:r>
            <a:r>
              <a:rPr lang="en-US" b="1" dirty="0"/>
              <a:t>8.5</a:t>
            </a:r>
            <a:r>
              <a:rPr lang="en-US" dirty="0"/>
              <a:t> out of </a:t>
            </a:r>
            <a:r>
              <a:rPr lang="en-US" b="1" dirty="0"/>
              <a:t>10</a:t>
            </a:r>
            <a:r>
              <a:rPr lang="en-US" dirty="0"/>
              <a:t> pricing or sequel predictions will be correct. This gives our stakeholders confidence backed by data </a:t>
            </a:r>
            <a:r>
              <a:rPr lang="en-US"/>
              <a:t>driven results, to </a:t>
            </a:r>
            <a:r>
              <a:rPr lang="en-US" dirty="0"/>
              <a:t>make decisions regarding greenlighting sequels.”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Dammy &amp; Kosi, 2025</a:t>
            </a:r>
          </a:p>
        </p:txBody>
      </p:sp>
    </p:spTree>
    <p:extLst>
      <p:ext uri="{BB962C8B-B14F-4D97-AF65-F5344CB8AC3E}">
        <p14:creationId xmlns:p14="http://schemas.microsoft.com/office/powerpoint/2010/main" val="89607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0FEB-08A1-D389-D5B7-712FBEAE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CCC51-81E3-F5B1-6161-F833138E3061}"/>
              </a:ext>
            </a:extLst>
          </p:cNvPr>
          <p:cNvSpPr txBox="1"/>
          <p:nvPr/>
        </p:nvSpPr>
        <p:spPr>
          <a:xfrm>
            <a:off x="932155" y="298253"/>
            <a:ext cx="46228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TRADE-OFFS &amp; RISKS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3C1DA-9640-EDFF-1909-742A66E34AC5}"/>
              </a:ext>
            </a:extLst>
          </p:cNvPr>
          <p:cNvSpPr txBox="1"/>
          <p:nvPr/>
        </p:nvSpPr>
        <p:spPr>
          <a:xfrm>
            <a:off x="469815" y="3754759"/>
            <a:ext cx="8504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Mitigation:</a:t>
            </a:r>
            <a:endParaRPr sz="2400" b="1" dirty="0">
              <a:solidFill>
                <a:srgbClr val="1A1A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AE4AC-6A91-9135-48B5-3063ECBFE29E}"/>
              </a:ext>
            </a:extLst>
          </p:cNvPr>
          <p:cNvSpPr txBox="1"/>
          <p:nvPr/>
        </p:nvSpPr>
        <p:spPr>
          <a:xfrm>
            <a:off x="932155" y="1085675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Trade-offs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A74820-2A2B-53A6-BCB7-824A76CA1332}"/>
              </a:ext>
            </a:extLst>
          </p:cNvPr>
          <p:cNvSpPr txBox="1"/>
          <p:nvPr/>
        </p:nvSpPr>
        <p:spPr>
          <a:xfrm>
            <a:off x="1483599" y="1632315"/>
            <a:ext cx="7582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High non-sequel accuracy vs. lower sequel recall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99741-9841-DFC3-D5DE-E110555BC35B}"/>
              </a:ext>
            </a:extLst>
          </p:cNvPr>
          <p:cNvSpPr txBox="1"/>
          <p:nvPr/>
        </p:nvSpPr>
        <p:spPr>
          <a:xfrm>
            <a:off x="932155" y="2149523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Risks: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8EB4F-CF20-8BE8-08C7-0F6BCF3B228A}"/>
              </a:ext>
            </a:extLst>
          </p:cNvPr>
          <p:cNvSpPr txBox="1"/>
          <p:nvPr/>
        </p:nvSpPr>
        <p:spPr>
          <a:xfrm>
            <a:off x="1054014" y="2693537"/>
            <a:ext cx="6794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Invalidity of model based on shift in market patterns.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EECA0-DAD4-CBE2-1EFD-D0AFBE73C2F9}"/>
              </a:ext>
            </a:extLst>
          </p:cNvPr>
          <p:cNvSpPr txBox="1"/>
          <p:nvPr/>
        </p:nvSpPr>
        <p:spPr>
          <a:xfrm>
            <a:off x="1054015" y="3175996"/>
            <a:ext cx="8012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Over-reliance on automation for decision making process.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C942B3BA-B3EC-1A53-37F4-2ECF422D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7284BB-C97A-360B-B73E-C3350CEFDB50}"/>
              </a:ext>
            </a:extLst>
          </p:cNvPr>
          <p:cNvSpPr txBox="1"/>
          <p:nvPr/>
        </p:nvSpPr>
        <p:spPr>
          <a:xfrm>
            <a:off x="1054014" y="4266644"/>
            <a:ext cx="6794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Scheduled retraining and monitoring of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7FA87-F8E0-8A88-D396-1B0DD7ED4331}"/>
              </a:ext>
            </a:extLst>
          </p:cNvPr>
          <p:cNvSpPr txBox="1"/>
          <p:nvPr/>
        </p:nvSpPr>
        <p:spPr>
          <a:xfrm>
            <a:off x="1054015" y="4749103"/>
            <a:ext cx="86149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Assigning expert to inspect result before company-wide utilization.</a:t>
            </a:r>
          </a:p>
        </p:txBody>
      </p:sp>
    </p:spTree>
    <p:extLst>
      <p:ext uri="{BB962C8B-B14F-4D97-AF65-F5344CB8AC3E}">
        <p14:creationId xmlns:p14="http://schemas.microsoft.com/office/powerpoint/2010/main" val="224932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  <p:bldP spid="12" grpId="0"/>
      <p:bldP spid="14" grpId="0"/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1CC5-78D0-DE86-6907-FCB96AABA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75E3EA-C2E1-709A-D661-BB847DEA5BBF}"/>
              </a:ext>
            </a:extLst>
          </p:cNvPr>
          <p:cNvSpPr txBox="1"/>
          <p:nvPr/>
        </p:nvSpPr>
        <p:spPr>
          <a:xfrm>
            <a:off x="1042992" y="616907"/>
            <a:ext cx="63292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DEPLOYMENT &amp; DASHBOARD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47776-0A65-B503-27F1-A854DBA5FC41}"/>
              </a:ext>
            </a:extLst>
          </p:cNvPr>
          <p:cNvSpPr txBox="1"/>
          <p:nvPr/>
        </p:nvSpPr>
        <p:spPr>
          <a:xfrm>
            <a:off x="1042991" y="1386384"/>
            <a:ext cx="6644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 err="1">
                <a:solidFill>
                  <a:srgbClr val="1A1A1A"/>
                </a:solidFill>
              </a:rPr>
              <a:t>Streamlit</a:t>
            </a:r>
            <a:r>
              <a:rPr lang="en-US" sz="2400" b="1" dirty="0">
                <a:solidFill>
                  <a:srgbClr val="1A1A1A"/>
                </a:solidFill>
              </a:rPr>
              <a:t> dashboard on Hugging Face with: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1F282-5019-D34F-1AC1-993D5E101BEE}"/>
              </a:ext>
            </a:extLst>
          </p:cNvPr>
          <p:cNvSpPr txBox="1"/>
          <p:nvPr/>
        </p:nvSpPr>
        <p:spPr>
          <a:xfrm>
            <a:off x="1042992" y="1828333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Sequel Likelihood predictions.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98A70-97A2-4A83-1EEC-5CF4324CEB52}"/>
              </a:ext>
            </a:extLst>
          </p:cNvPr>
          <p:cNvSpPr txBox="1"/>
          <p:nvPr/>
        </p:nvSpPr>
        <p:spPr>
          <a:xfrm>
            <a:off x="1042991" y="2289998"/>
            <a:ext cx="7346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Pricing optimization suggestions.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82BBE-8D28-84C1-BA47-7810678E4AC9}"/>
              </a:ext>
            </a:extLst>
          </p:cNvPr>
          <p:cNvSpPr txBox="1"/>
          <p:nvPr/>
        </p:nvSpPr>
        <p:spPr>
          <a:xfrm>
            <a:off x="1042992" y="2751663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Filter by genre, platform, release year, etc.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081B1A81-605E-6FE4-4710-476F822E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A0FD9-0DCB-45A7-0F19-9B2C1F29F3F0}"/>
              </a:ext>
            </a:extLst>
          </p:cNvPr>
          <p:cNvSpPr txBox="1"/>
          <p:nvPr/>
        </p:nvSpPr>
        <p:spPr>
          <a:xfrm>
            <a:off x="613278" y="6312399"/>
            <a:ext cx="9136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60012"/>
                </a:solidFill>
                <a:hlinkClick r:id="rId3"/>
              </a:rPr>
              <a:t>https://huggingface.co/spaces/owolabidamilola2014/Nintendo_Sequel_Decision_Analysis</a:t>
            </a:r>
            <a:r>
              <a:rPr lang="en-US" dirty="0">
                <a:solidFill>
                  <a:srgbClr val="E60012"/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A79BB-3BA9-AABA-DE40-617D7B2B3759}"/>
              </a:ext>
            </a:extLst>
          </p:cNvPr>
          <p:cNvSpPr/>
          <p:nvPr/>
        </p:nvSpPr>
        <p:spPr>
          <a:xfrm>
            <a:off x="454047" y="6262063"/>
            <a:ext cx="941516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372944-D8B7-3E55-69DA-68943F0EE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14" y="3288133"/>
            <a:ext cx="4435156" cy="28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38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6" grpId="0"/>
      <p:bldP spid="4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A6F5-045B-0CB8-8C87-187EE908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E7424-152B-3F83-3076-EA008BF9197A}"/>
              </a:ext>
            </a:extLst>
          </p:cNvPr>
          <p:cNvSpPr txBox="1"/>
          <p:nvPr/>
        </p:nvSpPr>
        <p:spPr>
          <a:xfrm>
            <a:off x="1042992" y="616907"/>
            <a:ext cx="50771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BUSINESS VALUE &amp; ROI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6BF5F-201D-DCB5-E60E-5FEE6F4F4DA6}"/>
              </a:ext>
            </a:extLst>
          </p:cNvPr>
          <p:cNvSpPr txBox="1"/>
          <p:nvPr/>
        </p:nvSpPr>
        <p:spPr>
          <a:xfrm>
            <a:off x="1042991" y="1386384"/>
            <a:ext cx="6644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Time Saved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AFFBC-DEA6-D904-1686-010244A6FF3F}"/>
              </a:ext>
            </a:extLst>
          </p:cNvPr>
          <p:cNvSpPr txBox="1"/>
          <p:nvPr/>
        </p:nvSpPr>
        <p:spPr>
          <a:xfrm>
            <a:off x="1042992" y="1828333"/>
            <a:ext cx="59695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Automates competitive analysis &amp; market research by 52.1 Hours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F0D1A-D6A2-D8A2-A4FB-130BA173BFC5}"/>
              </a:ext>
            </a:extLst>
          </p:cNvPr>
          <p:cNvSpPr txBox="1"/>
          <p:nvPr/>
        </p:nvSpPr>
        <p:spPr>
          <a:xfrm>
            <a:off x="1042990" y="2923773"/>
            <a:ext cx="6556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Better sequel greenlighting &amp; optimized pricing could increase ROI by over 209.8 many times over.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0BE17A-0FE5-2A23-D700-47FC4F8D7EE5}"/>
              </a:ext>
            </a:extLst>
          </p:cNvPr>
          <p:cNvSpPr txBox="1"/>
          <p:nvPr/>
        </p:nvSpPr>
        <p:spPr>
          <a:xfrm>
            <a:off x="1042991" y="4073607"/>
            <a:ext cx="61208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1A1A1A"/>
                </a:solidFill>
              </a:rPr>
              <a:t>The model is scalable,  transparent, data driven by realistic scenarios, and easily accessible via Hugging Space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8FEF38ED-B68C-DB5E-8FFE-6EFF6A0F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FD97E9-7F03-C372-8C0D-079B99C32122}"/>
              </a:ext>
            </a:extLst>
          </p:cNvPr>
          <p:cNvSpPr txBox="1"/>
          <p:nvPr/>
        </p:nvSpPr>
        <p:spPr>
          <a:xfrm>
            <a:off x="954704" y="2462107"/>
            <a:ext cx="6644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Revenue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3372B-33EF-A45E-F333-10B59B83A063}"/>
              </a:ext>
            </a:extLst>
          </p:cNvPr>
          <p:cNvSpPr txBox="1"/>
          <p:nvPr/>
        </p:nvSpPr>
        <p:spPr>
          <a:xfrm>
            <a:off x="954703" y="3611943"/>
            <a:ext cx="6644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1A1A1A"/>
                </a:solidFill>
              </a:rPr>
              <a:t>Strategic Value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6BC470-47A2-C4BD-AC76-904AAC7D5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19" y="1386384"/>
            <a:ext cx="3459850" cy="21459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F3BEC2-BA13-0446-4F9C-A45E2982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019" y="3732310"/>
            <a:ext cx="3459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3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/>
      <p:bldP spid="4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A8A8-2A42-6B1C-57C2-6F052DF7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3B020-6F00-193C-5CF5-28CCB096A553}"/>
              </a:ext>
            </a:extLst>
          </p:cNvPr>
          <p:cNvSpPr txBox="1"/>
          <p:nvPr/>
        </p:nvSpPr>
        <p:spPr>
          <a:xfrm>
            <a:off x="1042992" y="616907"/>
            <a:ext cx="30123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REFERENCES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4F646-19CA-BD13-32EE-8C91B156121B}"/>
              </a:ext>
            </a:extLst>
          </p:cNvPr>
          <p:cNvSpPr txBox="1"/>
          <p:nvPr/>
        </p:nvSpPr>
        <p:spPr>
          <a:xfrm>
            <a:off x="1042992" y="1497078"/>
            <a:ext cx="85048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Bureau of Labor Statistics. (2024). </a:t>
            </a:r>
            <a:r>
              <a:rPr lang="en-US" i="1" dirty="0"/>
              <a:t>Occupational employment and wage statistics: Market research analysts and marketing specialists (SOC 13-1161)</a:t>
            </a:r>
            <a:r>
              <a:rPr lang="en-US" dirty="0"/>
              <a:t>. U.S. Department of Labor. https://www.bls.gov/oes/current/oes131161.htm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Statista. (2024). </a:t>
            </a:r>
            <a:r>
              <a:rPr lang="en-US" i="1" dirty="0"/>
              <a:t>Average gross profit margin for video game publishers worldwide from 2015 to 2023</a:t>
            </a:r>
            <a:r>
              <a:rPr lang="en-US" dirty="0"/>
              <a:t>. https://www.statista.com/statistics/1274650/video-game-publisher-profit-margin/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Newzoo</a:t>
            </a:r>
            <a:r>
              <a:rPr lang="en-US" dirty="0"/>
              <a:t>. (2023). </a:t>
            </a:r>
            <a:r>
              <a:rPr lang="en-US" i="1" dirty="0"/>
              <a:t>Global games market report</a:t>
            </a:r>
            <a:r>
              <a:rPr lang="en-US" dirty="0"/>
              <a:t>. </a:t>
            </a:r>
            <a:r>
              <a:rPr lang="en-US" dirty="0" err="1"/>
              <a:t>Newzoo</a:t>
            </a:r>
            <a:r>
              <a:rPr lang="en-US" dirty="0"/>
              <a:t>. https://newzoo.com/insights/trend-reports/global-games-market-report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Shan, L., &amp; Yao, Y. (2021). </a:t>
            </a:r>
            <a:r>
              <a:rPr lang="en-US" i="1" dirty="0"/>
              <a:t>Video game pricing strategies: An empirical analysis of price determinants in the digital distribution era</a:t>
            </a:r>
            <a:r>
              <a:rPr lang="en-US" dirty="0"/>
              <a:t>. </a:t>
            </a:r>
            <a:r>
              <a:rPr lang="en-US" i="1" dirty="0"/>
              <a:t>Journal of Media Economics, 34</a:t>
            </a:r>
            <a:r>
              <a:rPr lang="en-US" dirty="0"/>
              <a:t>(3), 123–140. https://doi.org/10.1080/08997764.2021.1957741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Williams, D. (2022). </a:t>
            </a:r>
            <a:r>
              <a:rPr lang="en-US" i="1" dirty="0"/>
              <a:t>The economics of sequel production in the video game industry</a:t>
            </a:r>
            <a:r>
              <a:rPr lang="en-US" dirty="0"/>
              <a:t>. </a:t>
            </a:r>
            <a:r>
              <a:rPr lang="en-US" i="1" dirty="0"/>
              <a:t>Entertainment Computing, 40</a:t>
            </a:r>
            <a:r>
              <a:rPr lang="en-US" dirty="0"/>
              <a:t>, 100472. https://doi.org/10.1016/j.entcom.2021.100472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7EC9BCCD-7324-B4C5-EAAB-869200A1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531A-EFE6-4173-F8D8-1E3C894E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5BF7E-D114-0D60-7B03-8C56A590D58C}"/>
              </a:ext>
            </a:extLst>
          </p:cNvPr>
          <p:cNvSpPr txBox="1"/>
          <p:nvPr/>
        </p:nvSpPr>
        <p:spPr>
          <a:xfrm>
            <a:off x="1562323" y="3114712"/>
            <a:ext cx="906735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C80000"/>
                </a:solidFill>
              </a:rPr>
              <a:t>QUESTIONS AND FEEDBACK</a:t>
            </a:r>
            <a:endParaRPr sz="5400" b="1" dirty="0">
              <a:solidFill>
                <a:srgbClr val="C80000"/>
              </a:solidFill>
            </a:endParaRP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76E4F34E-7EC2-B931-3A39-050F2D006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9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03DE-EC35-B7FB-25D7-C2E0F7E0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427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4C5C-1558-0D22-5A15-B511057C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7B5D624C-66EE-BBCB-E12F-B46D8458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89" y="489484"/>
            <a:ext cx="7683875" cy="59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65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BE2DB-A445-6243-5D22-9797DECA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A0C5BD-6F58-62B3-4FAE-8D0518932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00989" y="1032620"/>
            <a:ext cx="7683875" cy="479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66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8E46-4D5A-A6EB-3DBC-DA91CA94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A51F3-7682-654F-A27D-14FBE9A5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40800" y="1032620"/>
            <a:ext cx="6204252" cy="479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99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991D-903C-6AEE-1FE4-00B27BF6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D392D-7CA1-F2CA-FA84-E75E4896D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35601" y="1032620"/>
            <a:ext cx="6014649" cy="479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8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057-A283-6887-7F0A-FC4D833B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D6FD3D-D1C8-0D0B-1D09-48BE2FC16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35601" y="1622216"/>
            <a:ext cx="6014649" cy="361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71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642B-DEA6-0457-5C25-49CDF970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4C7B0-D360-92F0-0B89-17DA78717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30765" y="1622216"/>
            <a:ext cx="5424321" cy="361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35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F145-946C-F98D-3DA9-DBFFEF4A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C27F21-8ABD-37CD-B809-48A000A0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53490" y="885307"/>
            <a:ext cx="6485020" cy="508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4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3AE1-145D-41C8-6064-1C1963346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370DE-BB4C-1D84-3E0E-8C46923DB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53490" y="885307"/>
            <a:ext cx="6485019" cy="508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7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9127-9190-ACAB-3029-B562ECD7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4955B-67FB-8AC1-1DBA-21BB69F56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53490" y="1119587"/>
            <a:ext cx="6485019" cy="461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47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725</Words>
  <Application>Microsoft Office PowerPoint</Application>
  <PresentationFormat>Widescreen</PresentationFormat>
  <Paragraphs>84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Sadler, Bivin Philip</dc:creator>
  <cp:lastModifiedBy>Owolabi, Oluwadamilola</cp:lastModifiedBy>
  <cp:revision>31</cp:revision>
  <dcterms:created xsi:type="dcterms:W3CDTF">2025-07-26T02:10:10Z</dcterms:created>
  <dcterms:modified xsi:type="dcterms:W3CDTF">2025-08-10T04:53:03Z</dcterms:modified>
</cp:coreProperties>
</file>