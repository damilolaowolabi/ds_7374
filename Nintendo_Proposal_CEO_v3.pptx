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81" r:id="rId3"/>
    <p:sldId id="261" r:id="rId4"/>
    <p:sldId id="262" r:id="rId5"/>
    <p:sldId id="263" r:id="rId6"/>
    <p:sldId id="282" r:id="rId7"/>
    <p:sldId id="285" r:id="rId8"/>
    <p:sldId id="286" r:id="rId9"/>
    <p:sldId id="288" r:id="rId10"/>
    <p:sldId id="287" r:id="rId11"/>
    <p:sldId id="265" r:id="rId12"/>
    <p:sldId id="283" r:id="rId13"/>
    <p:sldId id="284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14141E"/>
    <a:srgbClr val="00CCFF"/>
    <a:srgbClr val="0A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195D-3470-73BE-9E40-8F735F304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1424A-9F28-54B7-115C-BD3645FF3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89D65-FAA2-795E-DD3C-8BA31499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93D30-F995-0BB5-7A08-4675B682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93DCB-0A77-9C66-BFD2-6E3DD6EF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5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C052-7CB0-2671-E3DC-DBFCCA20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97A7-B932-D7A7-4DD0-F51C51013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3670-3545-F086-02D8-377BFE93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9C95-321F-D20A-3805-A6381240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3A67-1FC6-629A-F07E-0F03C05E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21FC-13A4-EA31-B3D7-ECD7A021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46571-8D8B-D28E-1117-CDB5BCEA0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F429F-981C-CEE8-17F5-807EB719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D6472-45C6-5C86-6872-9021FFCC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A0DBC-60EA-EE09-EABD-9F699C29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9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FA16-9545-4F0B-422B-6F323A9D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80760-FB3B-2CB1-FC18-119BF042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A3EE7-9CC8-12B7-0D37-F45A8B359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B2CEC-A09D-5D82-6F40-1F74FEDA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3C53C-6444-7D2B-851D-D9579BF2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A95C-A123-B8E6-27FB-068DBD08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A473-B982-C086-8EE8-19916742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097F1-3989-D067-3E4A-571E3986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B99AB-E411-0DB4-AA5A-F695F7E3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66327-B562-642D-B02C-E4DDB7E60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C9090-467E-8576-406B-04146D5AF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DC790-EDAE-51EC-D98C-C24AF485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E316B-C165-423C-684E-804BBB85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231C-38B6-CCC5-A88B-7E9CF22E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38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E3C2-EACB-2A1B-6B35-C578132E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5978C-9800-ACE2-4BF7-76096A31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005D7-8AE1-F1BB-4446-865CA7EC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54BCF-8548-EFD8-9207-06DA6D0A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3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816B7-7D2A-839D-585A-A323D642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F4130-9945-F9B3-948A-F8D8A546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B26D-1068-FC5A-5253-25D281F0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F734-6A1F-4825-BDCF-E6C5568A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5CCD4-BAFB-1576-9AA7-F898C7184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74FC8-0903-3AE4-5665-EC6D198DE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A2833-656F-C7C8-4921-024B56F0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87D6-AE9D-7EE9-3C6B-150200DF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BBF38-236A-6D56-2FAF-972BC2E5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1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B638-601A-BA52-6D9E-787D1716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19CEC-DD31-41A3-8E0E-37FFF5D15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B77B3-61DA-C71F-EB35-20A0A37C7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FF85B-221E-DAF1-9E06-8FB445C0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C4DEF-346D-1E35-C027-F7961502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5EAD2-5CB4-B41C-67F7-0BBE26EC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77B3-E0C9-D72F-3D18-FEC75250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AEDE2-F58D-BFE5-A1B9-7373F074C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BA6C0-0F0D-B89C-6E91-1DE7A4C0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5FD67-3831-46DE-B86A-82B0877F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7D462-B7C2-AF33-71E9-183A9FFC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1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BB52C-089D-4129-BAD9-DCEF04440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88BD6-B18C-40D8-8AD0-8455F2FA9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1A3E-BE89-D9F1-00D4-EA0B2C87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DFE15-425B-C62F-0283-D36FEAE5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EC768-DDEA-1A04-9092-2413B379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4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48D33-43E3-6536-0820-D7B7FA7A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6A9-2B78-E5ED-C1A7-9C9A96F3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8394-6114-614A-DAB7-8575C3AD2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436B3-A6B6-2143-94D0-02E94C56208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58174-EBD1-57C9-A061-93FADD468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DCCF-DBDC-BAFF-901B-6E74353B0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49755-9881-604D-85CB-F711D8112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8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1824" y="1954691"/>
            <a:ext cx="61447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C80000"/>
                </a:solidFill>
              </a:rPr>
              <a:t>NINTENDO SEQUEL DECISION</a:t>
            </a:r>
            <a:br>
              <a:rPr lang="en-US" sz="5400" b="1" dirty="0">
                <a:solidFill>
                  <a:srgbClr val="C80000"/>
                </a:solidFill>
              </a:rPr>
            </a:br>
            <a:r>
              <a:rPr lang="en-US" sz="5400" b="1" dirty="0">
                <a:solidFill>
                  <a:srgbClr val="C80000"/>
                </a:solidFill>
              </a:rPr>
              <a:t>ANALYSIS</a:t>
            </a:r>
            <a:br>
              <a:rPr dirty="0"/>
            </a:br>
            <a:r>
              <a:rPr lang="en-US" sz="3600" dirty="0">
                <a:solidFill>
                  <a:schemeClr val="bg1"/>
                </a:solidFill>
              </a:rPr>
              <a:t>CEO PROPOSAL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1824" y="5541264"/>
            <a:ext cx="76260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/>
              <a:t>Oluwadamilola Owolabi, Kosi Okeke</a:t>
            </a:r>
          </a:p>
        </p:txBody>
      </p:sp>
      <p:pic>
        <p:nvPicPr>
          <p:cNvPr id="7" name="Picture 6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E33CF62A-975E-1B21-D0C1-9FE28910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372">
        <p:fade/>
      </p:transition>
    </mc:Choice>
    <mc:Fallback xmlns="">
      <p:transition spd="med" advTm="437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A35E1-B6F0-A12A-F65E-12BB525F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75007-B7CA-6138-C13F-33A629764D07}"/>
              </a:ext>
            </a:extLst>
          </p:cNvPr>
          <p:cNvSpPr txBox="1"/>
          <p:nvPr/>
        </p:nvSpPr>
        <p:spPr>
          <a:xfrm>
            <a:off x="1350886" y="547518"/>
            <a:ext cx="1030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FINDING THE NEXT PROFITABLE GAME SEQUEL ?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413AF-C923-2B99-A632-249548B24FB3}"/>
              </a:ext>
            </a:extLst>
          </p:cNvPr>
          <p:cNvSpPr txBox="1"/>
          <p:nvPr/>
        </p:nvSpPr>
        <p:spPr>
          <a:xfrm>
            <a:off x="1255321" y="4492499"/>
            <a:ext cx="10256973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Improvement in fan loyalty, increase industry market share, optimization of IP Lifespan. </a:t>
            </a:r>
            <a:r>
              <a:rPr lang="en-US" sz="2000" i="1" dirty="0">
                <a:solidFill>
                  <a:schemeClr val="bg1"/>
                </a:solidFill>
              </a:rPr>
              <a:t>(GDC, 2023)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0793-AB07-6C10-56B3-3CD9243D34AF}"/>
              </a:ext>
            </a:extLst>
          </p:cNvPr>
          <p:cNvSpPr txBox="1"/>
          <p:nvPr/>
        </p:nvSpPr>
        <p:spPr>
          <a:xfrm>
            <a:off x="1172718" y="122462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Why the Trouble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69E8A-3CFC-AAF1-1683-6388573FCF8B}"/>
              </a:ext>
            </a:extLst>
          </p:cNvPr>
          <p:cNvSpPr txBox="1"/>
          <p:nvPr/>
        </p:nvSpPr>
        <p:spPr>
          <a:xfrm>
            <a:off x="1214020" y="1676432"/>
            <a:ext cx="9109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Choosing which videogame IP gets sequels can be risky and inconsistent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D7B0D-2FE8-6245-DE57-E26211EE1A68}"/>
              </a:ext>
            </a:extLst>
          </p:cNvPr>
          <p:cNvSpPr txBox="1"/>
          <p:nvPr/>
        </p:nvSpPr>
        <p:spPr>
          <a:xfrm>
            <a:off x="1172718" y="204576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Why this Matters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A7D9B-E1D3-0712-6EF6-663795FC629C}"/>
              </a:ext>
            </a:extLst>
          </p:cNvPr>
          <p:cNvSpPr txBox="1"/>
          <p:nvPr/>
        </p:nvSpPr>
        <p:spPr>
          <a:xfrm>
            <a:off x="1214020" y="2580685"/>
            <a:ext cx="10522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failed sequel to an IP can lead to loses of </a:t>
            </a:r>
            <a:r>
              <a:rPr lang="en-US" sz="2000" b="1" dirty="0">
                <a:solidFill>
                  <a:schemeClr val="bg1"/>
                </a:solidFill>
              </a:rPr>
              <a:t>$50M - $150M </a:t>
            </a:r>
            <a:r>
              <a:rPr lang="en-US" sz="2000" dirty="0">
                <a:solidFill>
                  <a:schemeClr val="bg1"/>
                </a:solidFill>
              </a:rPr>
              <a:t>in sunk development and Marketing cost </a:t>
            </a:r>
            <a:r>
              <a:rPr lang="en-US" sz="2000" i="1" dirty="0">
                <a:solidFill>
                  <a:schemeClr val="bg1"/>
                </a:solidFill>
              </a:rPr>
              <a:t>(</a:t>
            </a:r>
            <a:r>
              <a:rPr lang="en-US" sz="2000" i="1" dirty="0" err="1">
                <a:solidFill>
                  <a:schemeClr val="bg1"/>
                </a:solidFill>
              </a:rPr>
              <a:t>Houlikan</a:t>
            </a:r>
            <a:r>
              <a:rPr lang="en-US" sz="2000" i="1" dirty="0">
                <a:solidFill>
                  <a:schemeClr val="bg1"/>
                </a:solidFill>
              </a:rPr>
              <a:t> Lokey, 2024)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BAE40-A92A-580C-76E8-917F8D2439DD}"/>
              </a:ext>
            </a:extLst>
          </p:cNvPr>
          <p:cNvSpPr txBox="1"/>
          <p:nvPr/>
        </p:nvSpPr>
        <p:spPr>
          <a:xfrm>
            <a:off x="1172718" y="3198167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Proposal: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9E486-5312-C8C1-9A23-CBEA794E349B}"/>
              </a:ext>
            </a:extLst>
          </p:cNvPr>
          <p:cNvSpPr txBox="1"/>
          <p:nvPr/>
        </p:nvSpPr>
        <p:spPr>
          <a:xfrm>
            <a:off x="1214020" y="3726807"/>
            <a:ext cx="102569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Our data driven model could improve sequel decision accuracy by </a:t>
            </a:r>
            <a:r>
              <a:rPr lang="en-US" sz="2000" b="1" dirty="0">
                <a:solidFill>
                  <a:schemeClr val="bg1"/>
                </a:solidFill>
              </a:rPr>
              <a:t>15% - 20%, </a:t>
            </a:r>
            <a:r>
              <a:rPr lang="en-US" sz="2000" dirty="0">
                <a:solidFill>
                  <a:schemeClr val="bg1"/>
                </a:solidFill>
              </a:rPr>
              <a:t>adding  </a:t>
            </a:r>
            <a:r>
              <a:rPr lang="en-US" sz="2000" b="1" dirty="0">
                <a:solidFill>
                  <a:schemeClr val="bg1"/>
                </a:solidFill>
              </a:rPr>
              <a:t>~$40M </a:t>
            </a:r>
            <a:r>
              <a:rPr lang="en-US" sz="2000" dirty="0">
                <a:solidFill>
                  <a:schemeClr val="bg1"/>
                </a:solidFill>
              </a:rPr>
              <a:t>in annual revenue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A182F-6CE7-B1D9-1CCE-ADA4B9E8A1FC}"/>
              </a:ext>
            </a:extLst>
          </p:cNvPr>
          <p:cNvSpPr txBox="1"/>
          <p:nvPr/>
        </p:nvSpPr>
        <p:spPr>
          <a:xfrm>
            <a:off x="1203792" y="4402095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Other Benefits includes: </a:t>
            </a:r>
          </a:p>
        </p:txBody>
      </p:sp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3BBCDF5E-6899-4753-0FD8-663EEEE7A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1289" y="492711"/>
            <a:ext cx="47147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WHY WE NEED THIS ?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8992" y="3768605"/>
            <a:ext cx="961232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Established franchises built on sequels build stronger customer loyalty and commitment, hence yielding stable profits. </a:t>
            </a:r>
            <a:r>
              <a:rPr lang="en-US" sz="2000" i="1" dirty="0">
                <a:solidFill>
                  <a:schemeClr val="bg1"/>
                </a:solidFill>
              </a:rPr>
              <a:t>(ESA, 2023).</a:t>
            </a:r>
            <a:endParaRPr sz="2000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A2094-2BD0-860C-C670-613B7EFEF718}"/>
              </a:ext>
            </a:extLst>
          </p:cNvPr>
          <p:cNvSpPr txBox="1"/>
          <p:nvPr/>
        </p:nvSpPr>
        <p:spPr>
          <a:xfrm>
            <a:off x="1031289" y="142885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Revenue: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C8ACA-C2B3-3037-BBA0-77EB76C697D2}"/>
              </a:ext>
            </a:extLst>
          </p:cNvPr>
          <p:cNvSpPr txBox="1"/>
          <p:nvPr/>
        </p:nvSpPr>
        <p:spPr>
          <a:xfrm>
            <a:off x="1031287" y="1767735"/>
            <a:ext cx="9530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Sequels are proven to outsell original IPs by </a:t>
            </a:r>
            <a:r>
              <a:rPr lang="en-US" sz="2000" b="1" dirty="0">
                <a:solidFill>
                  <a:schemeClr val="bg1"/>
                </a:solidFill>
              </a:rPr>
              <a:t>200- 300% </a:t>
            </a:r>
            <a:r>
              <a:rPr lang="en-US" sz="2000" i="1" dirty="0">
                <a:solidFill>
                  <a:schemeClr val="bg1"/>
                </a:solidFill>
              </a:rPr>
              <a:t>(Wikipedia – Sequel Economics).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9C363-BE8E-E4A0-03C0-CB2C3C9D113F}"/>
              </a:ext>
            </a:extLst>
          </p:cNvPr>
          <p:cNvSpPr txBox="1"/>
          <p:nvPr/>
        </p:nvSpPr>
        <p:spPr>
          <a:xfrm>
            <a:off x="1031287" y="242176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Industry Position: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D1A40-C4E6-58CE-0634-EA623649FFDD}"/>
              </a:ext>
            </a:extLst>
          </p:cNvPr>
          <p:cNvSpPr txBox="1"/>
          <p:nvPr/>
        </p:nvSpPr>
        <p:spPr>
          <a:xfrm>
            <a:off x="1031287" y="2897007"/>
            <a:ext cx="9530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Releasing sequels on time, can strengthen Nintendo’s Market dominance in the </a:t>
            </a:r>
            <a:r>
              <a:rPr lang="en-US" sz="2000" b="1" dirty="0">
                <a:solidFill>
                  <a:schemeClr val="bg1"/>
                </a:solidFill>
              </a:rPr>
              <a:t>AAA</a:t>
            </a:r>
            <a:r>
              <a:rPr lang="en-US" sz="2000" dirty="0">
                <a:solidFill>
                  <a:schemeClr val="bg1"/>
                </a:solidFill>
              </a:rPr>
              <a:t> game space. </a:t>
            </a:r>
            <a:r>
              <a:rPr lang="en-US" sz="2000" i="1" dirty="0">
                <a:solidFill>
                  <a:schemeClr val="bg1"/>
                </a:solidFill>
              </a:rPr>
              <a:t>(</a:t>
            </a:r>
            <a:r>
              <a:rPr lang="en-US" sz="2000" i="1" dirty="0" err="1">
                <a:solidFill>
                  <a:schemeClr val="bg1"/>
                </a:solidFill>
              </a:rPr>
              <a:t>Newzoo</a:t>
            </a:r>
            <a:r>
              <a:rPr lang="en-US" sz="2000" i="1" dirty="0">
                <a:solidFill>
                  <a:schemeClr val="bg1"/>
                </a:solidFill>
              </a:rPr>
              <a:t>, 2024).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6A0A84-F633-C591-FC08-B680C3D3E238}"/>
              </a:ext>
            </a:extLst>
          </p:cNvPr>
          <p:cNvSpPr txBox="1"/>
          <p:nvPr/>
        </p:nvSpPr>
        <p:spPr>
          <a:xfrm>
            <a:off x="1031590" y="3583939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Customer Loyalty: </a:t>
            </a:r>
          </a:p>
        </p:txBody>
      </p:sp>
      <p:pic>
        <p:nvPicPr>
          <p:cNvPr id="16" name="Picture 15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25C8A892-DE40-9B95-44AE-26DD182A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9046" y="590367"/>
            <a:ext cx="8023933" cy="661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DIVING DEEPER INTO THE PROBLEM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1886" y="3031743"/>
            <a:ext cx="89649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Missed sequel opportunities risk losing market share to industry competitors like </a:t>
            </a:r>
            <a:r>
              <a:rPr lang="en-US" sz="2400" b="1" dirty="0">
                <a:solidFill>
                  <a:schemeClr val="bg1"/>
                </a:solidFill>
              </a:rPr>
              <a:t>Sony and Microsoft </a:t>
            </a:r>
            <a:r>
              <a:rPr lang="en-US" sz="2400" i="1" dirty="0">
                <a:solidFill>
                  <a:schemeClr val="bg1"/>
                </a:solidFill>
              </a:rPr>
              <a:t>(Ampere Analysis, 2024).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1CEC119-F832-B8B7-089F-2A1086AC9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6AFCE-FD2F-BBA9-EF4B-B9043CAB691D}"/>
              </a:ext>
            </a:extLst>
          </p:cNvPr>
          <p:cNvSpPr txBox="1"/>
          <p:nvPr/>
        </p:nvSpPr>
        <p:spPr>
          <a:xfrm>
            <a:off x="911886" y="1414195"/>
            <a:ext cx="9557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Current sequel approval process is largely based on guesswork.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65B7C1-736E-4BE2-7994-C44932BE3BA4}"/>
              </a:ext>
            </a:extLst>
          </p:cNvPr>
          <p:cNvSpPr txBox="1"/>
          <p:nvPr/>
        </p:nvSpPr>
        <p:spPr>
          <a:xfrm>
            <a:off x="911886" y="2038303"/>
            <a:ext cx="9557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cost of developing </a:t>
            </a:r>
            <a:r>
              <a:rPr lang="en-US" sz="2400" b="1" dirty="0">
                <a:solidFill>
                  <a:schemeClr val="bg1"/>
                </a:solidFill>
              </a:rPr>
              <a:t>AAA</a:t>
            </a:r>
            <a:r>
              <a:rPr lang="en-US" sz="2400" dirty="0">
                <a:solidFill>
                  <a:schemeClr val="bg1"/>
                </a:solidFill>
              </a:rPr>
              <a:t> game sequels on popular IPs can exceed </a:t>
            </a:r>
            <a:r>
              <a:rPr lang="en-US" sz="2400" b="1" dirty="0">
                <a:solidFill>
                  <a:schemeClr val="bg1"/>
                </a:solidFill>
              </a:rPr>
              <a:t>$200M </a:t>
            </a:r>
            <a:r>
              <a:rPr lang="en-US" sz="2400" i="1" dirty="0">
                <a:solidFill>
                  <a:schemeClr val="bg1"/>
                </a:solidFill>
              </a:rPr>
              <a:t>(Houlihan Lokey, 2024).</a:t>
            </a:r>
          </a:p>
        </p:txBody>
      </p:sp>
      <p:pic>
        <p:nvPicPr>
          <p:cNvPr id="16" name="Picture 15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F7B9AC67-8D40-E397-44CC-6005F0E7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5577" y="545978"/>
            <a:ext cx="54123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OUR PREDICTIVE MODEL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2424" y="3168180"/>
            <a:ext cx="9009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Maximizes </a:t>
            </a:r>
            <a:r>
              <a:rPr lang="en-US" sz="2400" i="1" dirty="0">
                <a:solidFill>
                  <a:schemeClr val="bg1"/>
                </a:solidFill>
              </a:rPr>
              <a:t>Return-on-Investment</a:t>
            </a:r>
            <a:r>
              <a:rPr lang="en-US" sz="2400" dirty="0">
                <a:solidFill>
                  <a:schemeClr val="bg1"/>
                </a:solidFill>
              </a:rPr>
              <a:t> for videogame sequels that are decided based on this model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D0E6E-88DB-A86F-1639-A20CEF528B32}"/>
              </a:ext>
            </a:extLst>
          </p:cNvPr>
          <p:cNvSpPr txBox="1"/>
          <p:nvPr/>
        </p:nvSpPr>
        <p:spPr>
          <a:xfrm>
            <a:off x="1082424" y="1365796"/>
            <a:ext cx="97806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Used MSRP </a:t>
            </a:r>
            <a:r>
              <a:rPr lang="en-US" sz="2400" i="1" dirty="0">
                <a:solidFill>
                  <a:schemeClr val="bg1"/>
                </a:solidFill>
              </a:rPr>
              <a:t>(</a:t>
            </a:r>
            <a:r>
              <a:rPr lang="en-US" sz="2400" i="1" dirty="0" err="1">
                <a:solidFill>
                  <a:schemeClr val="bg1"/>
                </a:solidFill>
              </a:rPr>
              <a:t>Dekudeals</a:t>
            </a:r>
            <a:r>
              <a:rPr lang="en-US" sz="2400" i="1" dirty="0">
                <a:solidFill>
                  <a:schemeClr val="bg1"/>
                </a:solidFill>
              </a:rPr>
              <a:t>), </a:t>
            </a:r>
            <a:r>
              <a:rPr lang="en-US" sz="2400" dirty="0">
                <a:solidFill>
                  <a:schemeClr val="bg1"/>
                </a:solidFill>
              </a:rPr>
              <a:t>price history </a:t>
            </a:r>
            <a:r>
              <a:rPr lang="en-US" sz="2400" i="1" dirty="0">
                <a:solidFill>
                  <a:schemeClr val="bg1"/>
                </a:solidFill>
              </a:rPr>
              <a:t>(</a:t>
            </a:r>
            <a:r>
              <a:rPr lang="en-US" sz="2400" i="1" dirty="0" err="1">
                <a:solidFill>
                  <a:schemeClr val="bg1"/>
                </a:solidFill>
              </a:rPr>
              <a:t>DekuDeals</a:t>
            </a:r>
            <a:r>
              <a:rPr lang="en-US" sz="2400" i="1" dirty="0">
                <a:solidFill>
                  <a:schemeClr val="bg1"/>
                </a:solidFill>
              </a:rPr>
              <a:t>), </a:t>
            </a:r>
            <a:r>
              <a:rPr lang="en-US" sz="2400" dirty="0">
                <a:solidFill>
                  <a:schemeClr val="bg1"/>
                </a:solidFill>
              </a:rPr>
              <a:t>critic/user ratings </a:t>
            </a:r>
            <a:r>
              <a:rPr lang="en-US" sz="2400" i="1" dirty="0">
                <a:solidFill>
                  <a:schemeClr val="bg1"/>
                </a:solidFill>
              </a:rPr>
              <a:t>(Metacritic), </a:t>
            </a:r>
            <a:r>
              <a:rPr lang="en-US" sz="2400" dirty="0">
                <a:solidFill>
                  <a:schemeClr val="bg1"/>
                </a:solidFill>
              </a:rPr>
              <a:t>and genre trends </a:t>
            </a:r>
            <a:r>
              <a:rPr lang="en-US" sz="2400" i="1" dirty="0">
                <a:solidFill>
                  <a:schemeClr val="bg1"/>
                </a:solidFill>
              </a:rPr>
              <a:t>(</a:t>
            </a:r>
            <a:r>
              <a:rPr lang="en-US" sz="2400" i="1" dirty="0" err="1">
                <a:solidFill>
                  <a:schemeClr val="bg1"/>
                </a:solidFill>
              </a:rPr>
              <a:t>DekuDeals</a:t>
            </a:r>
            <a:r>
              <a:rPr lang="en-US" sz="2400" i="1" dirty="0">
                <a:solidFill>
                  <a:schemeClr val="bg1"/>
                </a:solidFill>
              </a:rPr>
              <a:t>) </a:t>
            </a:r>
            <a:r>
              <a:rPr lang="en-US" sz="2400" dirty="0">
                <a:solidFill>
                  <a:schemeClr val="bg1"/>
                </a:solidFill>
              </a:rPr>
              <a:t>to Predict the Possibility of a successful sequel for a Videogame title.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F8B3B-0AF4-A5F6-29E6-C553350A49EC}"/>
              </a:ext>
            </a:extLst>
          </p:cNvPr>
          <p:cNvSpPr txBox="1"/>
          <p:nvPr/>
        </p:nvSpPr>
        <p:spPr>
          <a:xfrm>
            <a:off x="1082424" y="2636320"/>
            <a:ext cx="9780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Predicts success with </a:t>
            </a:r>
            <a:r>
              <a:rPr lang="en-US" sz="2400" b="1" dirty="0">
                <a:solidFill>
                  <a:schemeClr val="bg1"/>
                </a:solidFill>
              </a:rPr>
              <a:t>~85% </a:t>
            </a:r>
            <a:r>
              <a:rPr lang="en-US" sz="2400" dirty="0">
                <a:solidFill>
                  <a:schemeClr val="bg1"/>
                </a:solidFill>
              </a:rPr>
              <a:t>in Model accuracy.</a:t>
            </a:r>
          </a:p>
        </p:txBody>
      </p:sp>
      <p:pic>
        <p:nvPicPr>
          <p:cNvPr id="10" name="Picture 9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1E29BB1F-C291-41D5-42DA-920286C13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3C6BB-9686-BC6B-8E19-9C085C444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86DE5-04E5-EBAD-9749-9C1275109896}"/>
              </a:ext>
            </a:extLst>
          </p:cNvPr>
          <p:cNvSpPr txBox="1"/>
          <p:nvPr/>
        </p:nvSpPr>
        <p:spPr>
          <a:xfrm>
            <a:off x="932155" y="446889"/>
            <a:ext cx="44936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MODELING RESULTS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2437B-8A1D-8F8D-A88C-4D3A2FE6DFAB}"/>
              </a:ext>
            </a:extLst>
          </p:cNvPr>
          <p:cNvSpPr txBox="1"/>
          <p:nvPr/>
        </p:nvSpPr>
        <p:spPr>
          <a:xfrm>
            <a:off x="932155" y="4460052"/>
            <a:ext cx="85048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Business Translation</a:t>
            </a:r>
            <a:r>
              <a:rPr lang="en-US" sz="2400" dirty="0"/>
              <a:t>: Our sequel-prediction model is </a:t>
            </a:r>
            <a:r>
              <a:rPr lang="en-US" sz="2400" b="1" dirty="0"/>
              <a:t>84% accurate</a:t>
            </a:r>
            <a:r>
              <a:rPr lang="en-US" sz="2400" dirty="0"/>
              <a:t> in identifying whether a game should get a sequel based on current IP price, publisher-developer data and number of players among customers.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E1765-B70B-65C4-7973-2D11C02ABB4A}"/>
              </a:ext>
            </a:extLst>
          </p:cNvPr>
          <p:cNvSpPr txBox="1"/>
          <p:nvPr/>
        </p:nvSpPr>
        <p:spPr>
          <a:xfrm>
            <a:off x="932155" y="128557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dirty="0"/>
              <a:t>Accuracy for our model is </a:t>
            </a:r>
            <a:r>
              <a:rPr lang="en-US" sz="2400" b="1" dirty="0"/>
              <a:t>~84%.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2B318B-C5C9-C9DE-964B-26BBEAA92501}"/>
              </a:ext>
            </a:extLst>
          </p:cNvPr>
          <p:cNvSpPr txBox="1"/>
          <p:nvPr/>
        </p:nvSpPr>
        <p:spPr>
          <a:xfrm>
            <a:off x="932155" y="1936284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Key Variables: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76BBE-C84F-4A8B-B1E0-132F2F9F612E}"/>
              </a:ext>
            </a:extLst>
          </p:cNvPr>
          <p:cNvSpPr txBox="1"/>
          <p:nvPr/>
        </p:nvSpPr>
        <p:spPr>
          <a:xfrm>
            <a:off x="932155" y="404337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Other relevant features.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5D741-6138-0DFA-F205-7A18F1E2A673}"/>
              </a:ext>
            </a:extLst>
          </p:cNvPr>
          <p:cNvSpPr txBox="1"/>
          <p:nvPr/>
        </p:nvSpPr>
        <p:spPr>
          <a:xfrm>
            <a:off x="932155" y="3552698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Player 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BADAE-89AE-47E2-D79D-19FE23791FE8}"/>
              </a:ext>
            </a:extLst>
          </p:cNvPr>
          <p:cNvSpPr txBox="1"/>
          <p:nvPr/>
        </p:nvSpPr>
        <p:spPr>
          <a:xfrm>
            <a:off x="932155" y="3028890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Publisher and Developer data.</a:t>
            </a:r>
          </a:p>
        </p:txBody>
      </p:sp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5FD3B38E-010C-2492-A2DC-DC83FBC0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71992-CD0E-AC49-D684-7D3E8242F970}"/>
              </a:ext>
            </a:extLst>
          </p:cNvPr>
          <p:cNvSpPr txBox="1"/>
          <p:nvPr/>
        </p:nvSpPr>
        <p:spPr>
          <a:xfrm>
            <a:off x="932155" y="2505083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Current MSRP Price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59BA7-A347-5A96-B634-27C85F71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60" y="2113356"/>
            <a:ext cx="487966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5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5" grpId="0"/>
      <p:bldP spid="1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8117-DE23-E12A-ADAF-651780D2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DDBC71AE-F23F-00AB-959F-5BABD4F9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B19BE-D1DF-0BA0-64DE-A62920900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43" y="1008445"/>
            <a:ext cx="6655491" cy="5159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B7ED3-5D00-93F9-C3DB-D360E78B2607}"/>
              </a:ext>
            </a:extLst>
          </p:cNvPr>
          <p:cNvSpPr txBox="1"/>
          <p:nvPr/>
        </p:nvSpPr>
        <p:spPr>
          <a:xfrm>
            <a:off x="797143" y="121632"/>
            <a:ext cx="77649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PREDICTION ACCURACY BY SEQUEL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C8503-5CE7-A047-0B43-846FB7855BC5}"/>
              </a:ext>
            </a:extLst>
          </p:cNvPr>
          <p:cNvSpPr txBox="1"/>
          <p:nvPr/>
        </p:nvSpPr>
        <p:spPr>
          <a:xfrm>
            <a:off x="7717222" y="2305615"/>
            <a:ext cx="40840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“Our predictive model correctly predicts </a:t>
            </a:r>
            <a:r>
              <a:rPr lang="en-US" sz="2000" b="1" dirty="0"/>
              <a:t>75% </a:t>
            </a:r>
            <a:r>
              <a:rPr lang="en-US" sz="2000" dirty="0"/>
              <a:t>of videogame title sequels that would not yield profit and captures </a:t>
            </a:r>
            <a:r>
              <a:rPr lang="en-US" sz="2000" b="1" dirty="0"/>
              <a:t>9.3% </a:t>
            </a:r>
            <a:r>
              <a:rPr lang="en-US" sz="2000" dirty="0"/>
              <a:t>of true sequel-worthy titles, while keeping wrong sequel selections to </a:t>
            </a:r>
            <a:r>
              <a:rPr lang="en-US" sz="2000" b="1" dirty="0"/>
              <a:t>8.6%.”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AAE1D4-381D-0E05-C17B-8032BBA5A07B}"/>
              </a:ext>
            </a:extLst>
          </p:cNvPr>
          <p:cNvSpPr/>
          <p:nvPr/>
        </p:nvSpPr>
        <p:spPr>
          <a:xfrm>
            <a:off x="2705356" y="2490562"/>
            <a:ext cx="1196698" cy="2025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849950-2336-7EEE-9039-50B4FA198577}"/>
              </a:ext>
            </a:extLst>
          </p:cNvPr>
          <p:cNvSpPr/>
          <p:nvPr/>
        </p:nvSpPr>
        <p:spPr>
          <a:xfrm>
            <a:off x="5037383" y="4736672"/>
            <a:ext cx="1196698" cy="2025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B4ED8D-AB95-2BAD-33E0-314BE42761ED}"/>
              </a:ext>
            </a:extLst>
          </p:cNvPr>
          <p:cNvSpPr/>
          <p:nvPr/>
        </p:nvSpPr>
        <p:spPr>
          <a:xfrm>
            <a:off x="5037383" y="2490561"/>
            <a:ext cx="1196698" cy="2025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8274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F25A3-C23D-CDC9-C726-8CBC16D36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4AF388CC-48B0-1719-52BB-79702C1A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0BBFE1-20C5-2F9B-C717-7B173B0D0E87}"/>
              </a:ext>
            </a:extLst>
          </p:cNvPr>
          <p:cNvSpPr txBox="1"/>
          <p:nvPr/>
        </p:nvSpPr>
        <p:spPr>
          <a:xfrm>
            <a:off x="797143" y="121632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11DB9-1F22-6DB3-CD23-B81319C88821}"/>
              </a:ext>
            </a:extLst>
          </p:cNvPr>
          <p:cNvSpPr txBox="1"/>
          <p:nvPr/>
        </p:nvSpPr>
        <p:spPr>
          <a:xfrm>
            <a:off x="7645425" y="2113004"/>
            <a:ext cx="386011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“</a:t>
            </a:r>
            <a:r>
              <a:rPr lang="en-US" sz="2200" dirty="0"/>
              <a:t>The model is very strong at avoiding risky sequels (over 90% across all metrics) but less consistent at spotting the next big hit, meaning further tuning could boost sequel detection.”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91541-5C31-F78F-27A3-0D4A7DA626A9}"/>
              </a:ext>
            </a:extLst>
          </p:cNvPr>
          <p:cNvSpPr txBox="1"/>
          <p:nvPr/>
        </p:nvSpPr>
        <p:spPr>
          <a:xfrm>
            <a:off x="797143" y="148190"/>
            <a:ext cx="56188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PERFORMANCE BY CLASS</a:t>
            </a:r>
            <a:endParaRPr sz="3600" b="1" dirty="0">
              <a:solidFill>
                <a:srgbClr val="C8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7B964-998D-5FEB-3FDE-D1239AC4C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43" y="1282223"/>
            <a:ext cx="6641120" cy="45393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B28FA5-C272-893A-29DB-7E9F80096372}"/>
              </a:ext>
            </a:extLst>
          </p:cNvPr>
          <p:cNvSpPr/>
          <p:nvPr/>
        </p:nvSpPr>
        <p:spPr>
          <a:xfrm>
            <a:off x="3698872" y="1746005"/>
            <a:ext cx="625993" cy="3670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3D9D15-62B5-75A0-A575-A208F6CCCD65}"/>
              </a:ext>
            </a:extLst>
          </p:cNvPr>
          <p:cNvSpPr/>
          <p:nvPr/>
        </p:nvSpPr>
        <p:spPr>
          <a:xfrm>
            <a:off x="1622014" y="1746004"/>
            <a:ext cx="625993" cy="3670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B8FAF9-A182-62AA-4D2B-FAB2522CC242}"/>
              </a:ext>
            </a:extLst>
          </p:cNvPr>
          <p:cNvSpPr/>
          <p:nvPr/>
        </p:nvSpPr>
        <p:spPr>
          <a:xfrm>
            <a:off x="5684070" y="1746003"/>
            <a:ext cx="625993" cy="3670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7182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2D9EF-B73D-7CB4-010D-BF36F976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AF2AF374-FC1C-945A-76C8-3E55D4B7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9C2C4F-B0A4-A177-F435-AE3FDC65377E}"/>
              </a:ext>
            </a:extLst>
          </p:cNvPr>
          <p:cNvSpPr txBox="1"/>
          <p:nvPr/>
        </p:nvSpPr>
        <p:spPr>
          <a:xfrm>
            <a:off x="797143" y="121632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A53A6-1A1F-5860-BB28-8C98F68E7116}"/>
              </a:ext>
            </a:extLst>
          </p:cNvPr>
          <p:cNvSpPr txBox="1"/>
          <p:nvPr/>
        </p:nvSpPr>
        <p:spPr>
          <a:xfrm>
            <a:off x="7442373" y="2629471"/>
            <a:ext cx="386011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“</a:t>
            </a:r>
            <a:r>
              <a:rPr lang="en-US" sz="2200" dirty="0"/>
              <a:t>With an AUC score of 80%, the model performs beyond random guessing, giving us a solid method to separate good and bad future IP sequels.”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FA09DD-C238-CBA2-4A1B-49B50B4593BA}"/>
              </a:ext>
            </a:extLst>
          </p:cNvPr>
          <p:cNvSpPr txBox="1"/>
          <p:nvPr/>
        </p:nvSpPr>
        <p:spPr>
          <a:xfrm>
            <a:off x="797143" y="148190"/>
            <a:ext cx="100429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ROC CURVE SEPERATING GOOD FROM BAD 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E97B9-8043-E3FD-A683-14BDBA9AC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08" y="1233693"/>
            <a:ext cx="6116773" cy="49143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A97F3C-944A-BE61-F991-645D9B4810DC}"/>
              </a:ext>
            </a:extLst>
          </p:cNvPr>
          <p:cNvSpPr/>
          <p:nvPr/>
        </p:nvSpPr>
        <p:spPr>
          <a:xfrm>
            <a:off x="6459733" y="5270500"/>
            <a:ext cx="341118" cy="2378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7741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9EF0E-835F-1681-5DE2-05DD2EB8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5D676EB4-BEAB-08C2-7D4F-4F3AC54B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67671D-7105-9CB7-1AEE-1273DB5E4F3D}"/>
              </a:ext>
            </a:extLst>
          </p:cNvPr>
          <p:cNvSpPr txBox="1"/>
          <p:nvPr/>
        </p:nvSpPr>
        <p:spPr>
          <a:xfrm>
            <a:off x="797143" y="121632"/>
            <a:ext cx="1847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B4336-BE7C-558C-5179-E74ABA8165E9}"/>
              </a:ext>
            </a:extLst>
          </p:cNvPr>
          <p:cNvSpPr txBox="1"/>
          <p:nvPr/>
        </p:nvSpPr>
        <p:spPr>
          <a:xfrm>
            <a:off x="7480081" y="2007909"/>
            <a:ext cx="386011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“</a:t>
            </a:r>
            <a:r>
              <a:rPr lang="en-US" sz="2200" dirty="0"/>
              <a:t>If this model is applied in the decision-making process of sequels, it could yield the Nintendo company </a:t>
            </a:r>
            <a:r>
              <a:rPr lang="en-US" sz="2200"/>
              <a:t>$34M </a:t>
            </a:r>
            <a:r>
              <a:rPr lang="en-US" sz="2200" dirty="0"/>
              <a:t>annually by avoiding risky videogame investments and correctly investing in profitable titles..”</a:t>
            </a:r>
            <a:endParaRPr 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83763-1A72-8A01-FB2B-A5895E0A051D}"/>
              </a:ext>
            </a:extLst>
          </p:cNvPr>
          <p:cNvSpPr txBox="1"/>
          <p:nvPr/>
        </p:nvSpPr>
        <p:spPr>
          <a:xfrm>
            <a:off x="797143" y="148190"/>
            <a:ext cx="63375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BUSINESS IMPACT SUMMARY</a:t>
            </a:r>
            <a:endParaRPr sz="3600" b="1" dirty="0">
              <a:solidFill>
                <a:srgbClr val="C8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AFA98-FB5B-B5EC-C772-60BC1D52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43" y="1163804"/>
            <a:ext cx="6326284" cy="4657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2C62E1-8DF3-D7AD-5ECB-1F979AC23B74}"/>
              </a:ext>
            </a:extLst>
          </p:cNvPr>
          <p:cNvSpPr/>
          <p:nvPr/>
        </p:nvSpPr>
        <p:spPr>
          <a:xfrm>
            <a:off x="4131858" y="1528090"/>
            <a:ext cx="808357" cy="1902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1953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8DDC9-8C7D-B5B3-B4D7-3FE97830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AF1D8-41FE-1668-BF72-942040A0785E}"/>
              </a:ext>
            </a:extLst>
          </p:cNvPr>
          <p:cNvSpPr txBox="1"/>
          <p:nvPr/>
        </p:nvSpPr>
        <p:spPr>
          <a:xfrm>
            <a:off x="932155" y="298253"/>
            <a:ext cx="51286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RESOURCE AND COSTS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914D5-2F6C-6D28-B10F-FB3F6AF7D38A}"/>
              </a:ext>
            </a:extLst>
          </p:cNvPr>
          <p:cNvSpPr txBox="1"/>
          <p:nvPr/>
        </p:nvSpPr>
        <p:spPr>
          <a:xfrm>
            <a:off x="932155" y="5341780"/>
            <a:ext cx="8504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b="1" dirty="0"/>
              <a:t>~$112K - $115k </a:t>
            </a:r>
            <a:r>
              <a:rPr lang="en-US" sz="2000" dirty="0"/>
              <a:t>(well under </a:t>
            </a:r>
            <a:r>
              <a:rPr lang="en-US" sz="2000" b="1" dirty="0"/>
              <a:t>2%</a:t>
            </a:r>
            <a:r>
              <a:rPr lang="en-US" sz="2000" dirty="0"/>
              <a:t> of potential annual gain).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9FA821AC-D439-BF03-6FF3-63DE6ABD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2D8F12-B7D2-C117-3808-D95DD09C2FBD}"/>
              </a:ext>
            </a:extLst>
          </p:cNvPr>
          <p:cNvSpPr txBox="1"/>
          <p:nvPr/>
        </p:nvSpPr>
        <p:spPr>
          <a:xfrm>
            <a:off x="932155" y="1130468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Materials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8D462-7F1A-27B8-7AAD-D41A25C4FF04}"/>
              </a:ext>
            </a:extLst>
          </p:cNvPr>
          <p:cNvSpPr txBox="1"/>
          <p:nvPr/>
        </p:nvSpPr>
        <p:spPr>
          <a:xfrm>
            <a:off x="981250" y="1624739"/>
            <a:ext cx="9320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AWS cloud compute &amp; GPU training (~$50K/year) </a:t>
            </a:r>
            <a:r>
              <a:rPr lang="en-US" sz="2000" i="1" dirty="0"/>
              <a:t>(AWS Pricing Calculator).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240CC-FC3C-61A6-3300-88C6F8FA15FD}"/>
              </a:ext>
            </a:extLst>
          </p:cNvPr>
          <p:cNvSpPr txBox="1"/>
          <p:nvPr/>
        </p:nvSpPr>
        <p:spPr>
          <a:xfrm>
            <a:off x="981250" y="2062865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800" b="1" dirty="0"/>
              <a:t>Personnel: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FD92EC-6496-9F5F-86D1-94406D118EEA}"/>
              </a:ext>
            </a:extLst>
          </p:cNvPr>
          <p:cNvSpPr txBox="1"/>
          <p:nvPr/>
        </p:nvSpPr>
        <p:spPr>
          <a:xfrm>
            <a:off x="981250" y="2624101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1 Data Scientist - </a:t>
            </a:r>
            <a:r>
              <a:rPr lang="en-US" sz="2000" b="1" dirty="0"/>
              <a:t>$25k </a:t>
            </a:r>
            <a:r>
              <a:rPr lang="en-US" sz="2000" i="1" dirty="0"/>
              <a:t>(Glassdoor)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293F0-AC4B-C6A2-B662-08C750153D86}"/>
              </a:ext>
            </a:extLst>
          </p:cNvPr>
          <p:cNvSpPr txBox="1"/>
          <p:nvPr/>
        </p:nvSpPr>
        <p:spPr>
          <a:xfrm>
            <a:off x="979060" y="3062227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1 Data Analyst - </a:t>
            </a:r>
            <a:r>
              <a:rPr lang="en-US" sz="2000" b="1" dirty="0"/>
              <a:t>$14k </a:t>
            </a:r>
            <a:r>
              <a:rPr lang="en-US" sz="2000" i="1" dirty="0"/>
              <a:t>(Glassdoor)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9FC4F-03E2-2228-C6C2-B446778E398A}"/>
              </a:ext>
            </a:extLst>
          </p:cNvPr>
          <p:cNvSpPr txBox="1"/>
          <p:nvPr/>
        </p:nvSpPr>
        <p:spPr>
          <a:xfrm>
            <a:off x="979060" y="3474195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1 Product Manager- </a:t>
            </a:r>
            <a:r>
              <a:rPr lang="en-US" sz="2000" b="1" dirty="0"/>
              <a:t>$23k </a:t>
            </a:r>
            <a:r>
              <a:rPr lang="en-US" sz="2000" i="1" dirty="0"/>
              <a:t>(Glassdoor)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8A184-EF3D-8329-A81F-7BBEAB0811F5}"/>
              </a:ext>
            </a:extLst>
          </p:cNvPr>
          <p:cNvSpPr txBox="1"/>
          <p:nvPr/>
        </p:nvSpPr>
        <p:spPr>
          <a:xfrm>
            <a:off x="526241" y="3886163"/>
            <a:ext cx="9775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dirty="0"/>
              <a:t>Timeline: </a:t>
            </a:r>
            <a:r>
              <a:rPr lang="en-US" sz="2400" b="1" dirty="0"/>
              <a:t>8–10</a:t>
            </a:r>
            <a:r>
              <a:rPr lang="en-US" sz="2400" dirty="0"/>
              <a:t> weeks for pilot deployment.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75C8DB-02C2-AED8-B8EB-FDAD8C0400EF}"/>
              </a:ext>
            </a:extLst>
          </p:cNvPr>
          <p:cNvSpPr txBox="1"/>
          <p:nvPr/>
        </p:nvSpPr>
        <p:spPr>
          <a:xfrm>
            <a:off x="979060" y="4356895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Estimated Cost: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C3BCD-026C-583A-78EC-0B4848D22818}"/>
              </a:ext>
            </a:extLst>
          </p:cNvPr>
          <p:cNvSpPr txBox="1"/>
          <p:nvPr/>
        </p:nvSpPr>
        <p:spPr>
          <a:xfrm>
            <a:off x="932155" y="4880115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b="1" dirty="0"/>
              <a:t>Total Estimated Personnel Cost:</a:t>
            </a:r>
            <a:r>
              <a:rPr lang="en-US" sz="2000" dirty="0"/>
              <a:t> </a:t>
            </a:r>
            <a:r>
              <a:rPr lang="en-US" sz="2000" b="1" dirty="0"/>
              <a:t>~$62K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607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C0FEB-08A1-D389-D5B7-712FBEAE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CCC51-81E3-F5B1-6161-F833138E3061}"/>
              </a:ext>
            </a:extLst>
          </p:cNvPr>
          <p:cNvSpPr txBox="1"/>
          <p:nvPr/>
        </p:nvSpPr>
        <p:spPr>
          <a:xfrm>
            <a:off x="932155" y="298253"/>
            <a:ext cx="14125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TL:DR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3C1DA-9640-EDFF-1909-742A66E34AC5}"/>
              </a:ext>
            </a:extLst>
          </p:cNvPr>
          <p:cNvSpPr txBox="1"/>
          <p:nvPr/>
        </p:nvSpPr>
        <p:spPr>
          <a:xfrm>
            <a:off x="1054015" y="4000019"/>
            <a:ext cx="8504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Stronger market advantage compared to competitors.</a:t>
            </a: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AE4AC-6A91-9135-48B5-3063ECBFE29E}"/>
              </a:ext>
            </a:extLst>
          </p:cNvPr>
          <p:cNvSpPr txBox="1"/>
          <p:nvPr/>
        </p:nvSpPr>
        <p:spPr>
          <a:xfrm>
            <a:off x="932155" y="1085675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800" b="1" dirty="0"/>
              <a:t>Why This Will Work: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A74820-2A2B-53A6-BCB7-824A76CA1332}"/>
              </a:ext>
            </a:extLst>
          </p:cNvPr>
          <p:cNvSpPr txBox="1"/>
          <p:nvPr/>
        </p:nvSpPr>
        <p:spPr>
          <a:xfrm>
            <a:off x="1483599" y="1749986"/>
            <a:ext cx="75824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Uses real world Nintendo-specific sales, price and review data combined with proven industry predictors (GDC, 2023).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99741-9841-DFC3-D5DE-E110555BC35B}"/>
              </a:ext>
            </a:extLst>
          </p:cNvPr>
          <p:cNvSpPr txBox="1"/>
          <p:nvPr/>
        </p:nvSpPr>
        <p:spPr>
          <a:xfrm>
            <a:off x="932155" y="2598963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800" b="1" dirty="0"/>
              <a:t>Other Value: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8EB4F-CF20-8BE8-08C7-0F6BCF3B228A}"/>
              </a:ext>
            </a:extLst>
          </p:cNvPr>
          <p:cNvSpPr txBox="1"/>
          <p:nvPr/>
        </p:nvSpPr>
        <p:spPr>
          <a:xfrm>
            <a:off x="1054015" y="3152196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Less financial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EECA0-DAD4-CBE2-1EFD-D0AFBE73C2F9}"/>
              </a:ext>
            </a:extLst>
          </p:cNvPr>
          <p:cNvSpPr txBox="1"/>
          <p:nvPr/>
        </p:nvSpPr>
        <p:spPr>
          <a:xfrm>
            <a:off x="1054015" y="3576107"/>
            <a:ext cx="8012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Faster greenlight process of profitable title sequels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C942B3BA-B3EC-1A53-37F4-2ECF422D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2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0A6F5-045B-0CB8-8C87-187EE908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E7424-152B-3F83-3076-EA008BF9197A}"/>
              </a:ext>
            </a:extLst>
          </p:cNvPr>
          <p:cNvSpPr txBox="1"/>
          <p:nvPr/>
        </p:nvSpPr>
        <p:spPr>
          <a:xfrm>
            <a:off x="1042992" y="616907"/>
            <a:ext cx="69281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POSSIBLE RISKS &amp; MITIGATIONS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90953-08ED-5518-ACDB-52BA4AB86D92}"/>
              </a:ext>
            </a:extLst>
          </p:cNvPr>
          <p:cNvSpPr txBox="1"/>
          <p:nvPr/>
        </p:nvSpPr>
        <p:spPr>
          <a:xfrm>
            <a:off x="1042992" y="5130036"/>
            <a:ext cx="85048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Rely on expert review on predictions to greenlight decisions.</a:t>
            </a: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6BF5F-201D-DCB5-E60E-5FEE6F4F4DA6}"/>
              </a:ext>
            </a:extLst>
          </p:cNvPr>
          <p:cNvSpPr txBox="1"/>
          <p:nvPr/>
        </p:nvSpPr>
        <p:spPr>
          <a:xfrm>
            <a:off x="1042992" y="1386384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Risk: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FFBC-DEA6-D904-1686-010244A6FF3F}"/>
              </a:ext>
            </a:extLst>
          </p:cNvPr>
          <p:cNvSpPr txBox="1"/>
          <p:nvPr/>
        </p:nvSpPr>
        <p:spPr>
          <a:xfrm>
            <a:off x="1042992" y="1828333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Consumer preferences shift unexpectedly.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38237-61E4-6863-C09F-2F247DC13235}"/>
              </a:ext>
            </a:extLst>
          </p:cNvPr>
          <p:cNvSpPr txBox="1"/>
          <p:nvPr/>
        </p:nvSpPr>
        <p:spPr>
          <a:xfrm>
            <a:off x="1042992" y="2299970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Mitigation: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F0D1A-D6A2-D8A2-A4FB-130BA173BFC5}"/>
              </a:ext>
            </a:extLst>
          </p:cNvPr>
          <p:cNvSpPr txBox="1"/>
          <p:nvPr/>
        </p:nvSpPr>
        <p:spPr>
          <a:xfrm>
            <a:off x="1042992" y="2890139"/>
            <a:ext cx="7346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Train scalable model based on new market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E6798-8120-576B-CC13-9D0FE068CAE1}"/>
              </a:ext>
            </a:extLst>
          </p:cNvPr>
          <p:cNvSpPr txBox="1"/>
          <p:nvPr/>
        </p:nvSpPr>
        <p:spPr>
          <a:xfrm>
            <a:off x="1042992" y="3418753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Risk: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0BE17A-0FE5-2A23-D700-47FC4F8D7EE5}"/>
              </a:ext>
            </a:extLst>
          </p:cNvPr>
          <p:cNvSpPr txBox="1"/>
          <p:nvPr/>
        </p:nvSpPr>
        <p:spPr>
          <a:xfrm>
            <a:off x="1042992" y="4009699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000" dirty="0"/>
              <a:t>Over-reliance on automation.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C9A57D-EBB7-EC3C-8FC0-C28F0258F7BE}"/>
              </a:ext>
            </a:extLst>
          </p:cNvPr>
          <p:cNvSpPr txBox="1"/>
          <p:nvPr/>
        </p:nvSpPr>
        <p:spPr>
          <a:xfrm>
            <a:off x="1042992" y="4539090"/>
            <a:ext cx="6097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sz="2400" b="1" dirty="0"/>
              <a:t>Mitigation: </a:t>
            </a: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8FEF38ED-B68C-DB5E-8FFE-6EFF6A0F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3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5A8A8-2A42-6B1C-57C2-6F052DF7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3B020-6F00-193C-5CF5-28CCB096A553}"/>
              </a:ext>
            </a:extLst>
          </p:cNvPr>
          <p:cNvSpPr txBox="1"/>
          <p:nvPr/>
        </p:nvSpPr>
        <p:spPr>
          <a:xfrm>
            <a:off x="1042992" y="616907"/>
            <a:ext cx="30123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80000"/>
                </a:solidFill>
              </a:rPr>
              <a:t>REFERENCES</a:t>
            </a:r>
            <a:endParaRPr sz="3600" b="1" dirty="0">
              <a:solidFill>
                <a:srgbClr val="C8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4F646-19CA-BD13-32EE-8C91B156121B}"/>
              </a:ext>
            </a:extLst>
          </p:cNvPr>
          <p:cNvSpPr txBox="1"/>
          <p:nvPr/>
        </p:nvSpPr>
        <p:spPr>
          <a:xfrm>
            <a:off x="1042992" y="1497078"/>
            <a:ext cx="85048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AWS. (2025). AWS Pricing Calculator. Amazon Web Services, Inc. Retrieved from https://calculator.aws/#/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Glassdoor. (2025). Average salaries for Data Scientist, Data Analyst, and Product Manager in the United States. Retrieved from https://www.glassdoor.com/Salaries/index.htm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Statista. (2024). Revenue of Nintendo worldwide from fiscal 2009 to 2024. Retrieved from https://www.statista.com/statistics/324139/nintendo-net-sales-worldwide/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Statista. (2024). Global video game market value from 2020 to 2027. Retrieved from https://www.statista.com/statistics/292056/video-game-market-value-worldwide/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Newzoo</a:t>
            </a:r>
            <a:r>
              <a:rPr lang="en-US" dirty="0">
                <a:solidFill>
                  <a:schemeClr val="bg1"/>
                </a:solidFill>
              </a:rPr>
              <a:t>. (2024). Global Games Market Report. </a:t>
            </a:r>
            <a:r>
              <a:rPr lang="en-US" dirty="0" err="1">
                <a:solidFill>
                  <a:schemeClr val="bg1"/>
                </a:solidFill>
              </a:rPr>
              <a:t>Newzoo</a:t>
            </a:r>
            <a:r>
              <a:rPr lang="en-US" dirty="0">
                <a:solidFill>
                  <a:schemeClr val="bg1"/>
                </a:solidFill>
              </a:rPr>
              <a:t> B.V. Retrieved from https://newzoo.com/insights/trend-reports/global-games-market-report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Metacritic. (2025). Game ratings and reviews database. Retrieved from https://www.metacritic.com/game/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IGN. (2024). The importance of sequels in modern gaming. Retrieved from https://www.ign.com/articles/video-game-sequels-importance</a:t>
            </a:r>
            <a:endParaRPr sz="2200" dirty="0">
              <a:solidFill>
                <a:schemeClr val="bg1"/>
              </a:solidFill>
            </a:endParaRP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7EC9BCCD-7324-B4C5-EAAB-869200A1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F531A-EFE6-4173-F8D8-1E3C894E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5BF7E-D114-0D60-7B03-8C56A590D58C}"/>
              </a:ext>
            </a:extLst>
          </p:cNvPr>
          <p:cNvSpPr txBox="1"/>
          <p:nvPr/>
        </p:nvSpPr>
        <p:spPr>
          <a:xfrm>
            <a:off x="1562323" y="3114712"/>
            <a:ext cx="906735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C80000"/>
                </a:solidFill>
              </a:rPr>
              <a:t>QUESTIONS AND FEEDBACK</a:t>
            </a:r>
            <a:endParaRPr sz="5400" b="1" dirty="0">
              <a:solidFill>
                <a:srgbClr val="C80000"/>
              </a:solidFill>
            </a:endParaRPr>
          </a:p>
        </p:txBody>
      </p:sp>
      <p:pic>
        <p:nvPicPr>
          <p:cNvPr id="5" name="Picture 4" descr="A red and white rectangular sign with black background&#10;&#10;AI-generated content may be incorrect.">
            <a:extLst>
              <a:ext uri="{FF2B5EF4-FFF2-40B4-BE49-F238E27FC236}">
                <a16:creationId xmlns:a16="http://schemas.microsoft.com/office/drawing/2014/main" id="{76E4F34E-7EC2-B931-3A39-050F2D00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907" y="5821529"/>
            <a:ext cx="1869981" cy="9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9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2121</TotalTime>
  <Words>885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Sadler, Bivin Philip</dc:creator>
  <cp:lastModifiedBy>Owolabi, Oluwadamilola</cp:lastModifiedBy>
  <cp:revision>24</cp:revision>
  <dcterms:created xsi:type="dcterms:W3CDTF">2025-07-26T02:10:10Z</dcterms:created>
  <dcterms:modified xsi:type="dcterms:W3CDTF">2025-08-13T03:51:19Z</dcterms:modified>
</cp:coreProperties>
</file>